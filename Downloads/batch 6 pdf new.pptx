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-252" y="-253"/>
            <a:ext cx="12192252" cy="685825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57199" y="0"/>
            <a:ext cx="1122680" cy="5329555"/>
          </a:xfrm>
          <a:custGeom>
            <a:avLst/>
            <a:gdLst/>
            <a:ahLst/>
            <a:cxnLst/>
            <a:rect l="l" t="t" r="r" b="b"/>
            <a:pathLst>
              <a:path w="1122680" h="5329555">
                <a:moveTo>
                  <a:pt x="1122426" y="0"/>
                </a:moveTo>
                <a:lnTo>
                  <a:pt x="868426" y="0"/>
                </a:lnTo>
                <a:lnTo>
                  <a:pt x="0" y="5286375"/>
                </a:lnTo>
                <a:lnTo>
                  <a:pt x="247650" y="5329301"/>
                </a:lnTo>
                <a:lnTo>
                  <a:pt x="1122426" y="0"/>
                </a:lnTo>
                <a:close/>
              </a:path>
            </a:pathLst>
          </a:custGeom>
          <a:solidFill>
            <a:srgbClr val="2FAC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50812" y="0"/>
            <a:ext cx="1117600" cy="5276850"/>
          </a:xfrm>
          <a:custGeom>
            <a:avLst/>
            <a:gdLst/>
            <a:ahLst/>
            <a:cxnLst/>
            <a:rect l="l" t="t" r="r" b="b"/>
            <a:pathLst>
              <a:path w="1117600" h="5276850">
                <a:moveTo>
                  <a:pt x="1117600" y="0"/>
                </a:moveTo>
                <a:lnTo>
                  <a:pt x="865187" y="0"/>
                </a:lnTo>
                <a:lnTo>
                  <a:pt x="0" y="5238750"/>
                </a:lnTo>
                <a:lnTo>
                  <a:pt x="249237" y="5276850"/>
                </a:lnTo>
                <a:lnTo>
                  <a:pt x="111760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50812" y="5238750"/>
            <a:ext cx="1229360" cy="1619250"/>
          </a:xfrm>
          <a:custGeom>
            <a:avLst/>
            <a:gdLst/>
            <a:ahLst/>
            <a:cxnLst/>
            <a:rect l="l" t="t" r="r" b="b"/>
            <a:pathLst>
              <a:path w="1229360" h="1619250">
                <a:moveTo>
                  <a:pt x="0" y="0"/>
                </a:moveTo>
                <a:lnTo>
                  <a:pt x="1174813" y="1619249"/>
                </a:lnTo>
                <a:lnTo>
                  <a:pt x="1228788" y="1619249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57199" y="5291200"/>
            <a:ext cx="1495425" cy="1567180"/>
          </a:xfrm>
          <a:custGeom>
            <a:avLst/>
            <a:gdLst/>
            <a:ahLst/>
            <a:cxnLst/>
            <a:rect l="l" t="t" r="r" b="b"/>
            <a:pathLst>
              <a:path w="1495425" h="1567179">
                <a:moveTo>
                  <a:pt x="0" y="0"/>
                </a:moveTo>
                <a:lnTo>
                  <a:pt x="1443101" y="1566799"/>
                </a:lnTo>
                <a:lnTo>
                  <a:pt x="1495425" y="1566799"/>
                </a:lnTo>
                <a:lnTo>
                  <a:pt x="0" y="0"/>
                </a:lnTo>
                <a:close/>
              </a:path>
            </a:pathLst>
          </a:custGeom>
          <a:solidFill>
            <a:srgbClr val="0C5A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57199" y="5286375"/>
            <a:ext cx="2130425" cy="1571625"/>
          </a:xfrm>
          <a:custGeom>
            <a:avLst/>
            <a:gdLst/>
            <a:ahLst/>
            <a:cxnLst/>
            <a:rect l="l" t="t" r="r" b="b"/>
            <a:pathLst>
              <a:path w="2130425" h="1571625">
                <a:moveTo>
                  <a:pt x="0" y="0"/>
                </a:moveTo>
                <a:lnTo>
                  <a:pt x="0" y="4825"/>
                </a:lnTo>
                <a:lnTo>
                  <a:pt x="1495425" y="1571624"/>
                </a:lnTo>
                <a:lnTo>
                  <a:pt x="2130425" y="1571624"/>
                </a:lnTo>
                <a:lnTo>
                  <a:pt x="247650" y="42925"/>
                </a:lnTo>
                <a:lnTo>
                  <a:pt x="0" y="0"/>
                </a:lnTo>
                <a:close/>
              </a:path>
            </a:pathLst>
          </a:custGeom>
          <a:solidFill>
            <a:srgbClr val="1286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50812" y="5238750"/>
            <a:ext cx="1696085" cy="1619250"/>
          </a:xfrm>
          <a:custGeom>
            <a:avLst/>
            <a:gdLst/>
            <a:ahLst/>
            <a:cxnLst/>
            <a:rect l="l" t="t" r="r" b="b"/>
            <a:pathLst>
              <a:path w="1696085" h="1619250">
                <a:moveTo>
                  <a:pt x="0" y="0"/>
                </a:moveTo>
                <a:lnTo>
                  <a:pt x="1228788" y="1619249"/>
                </a:lnTo>
                <a:lnTo>
                  <a:pt x="1695513" y="1619249"/>
                </a:lnTo>
                <a:lnTo>
                  <a:pt x="292100" y="95250"/>
                </a:lnTo>
                <a:lnTo>
                  <a:pt x="244475" y="42925"/>
                </a:lnTo>
                <a:lnTo>
                  <a:pt x="249237" y="42925"/>
                </a:lnTo>
                <a:lnTo>
                  <a:pt x="249237" y="38100"/>
                </a:lnTo>
                <a:lnTo>
                  <a:pt x="244475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96870" y="223215"/>
            <a:ext cx="6800850" cy="688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14829" y="1525270"/>
            <a:ext cx="9308465" cy="4508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hyperlink" Target="mailto:info@tkrec.ac.in" TargetMode="External"/><Relationship Id="rId5" Type="http://schemas.openxmlformats.org/officeDocument/2006/relationships/hyperlink" Target="mailto:deanacademics@tkrec.ac.in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117205" y="4903242"/>
            <a:ext cx="2208530" cy="113030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600" spc="-10">
                <a:solidFill>
                  <a:srgbClr val="D54686"/>
                </a:solidFill>
                <a:latin typeface="Times New Roman"/>
                <a:cs typeface="Times New Roman"/>
              </a:rPr>
              <a:t>22R91A04K2:P.SURESH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600" spc="-10">
                <a:solidFill>
                  <a:srgbClr val="D54686"/>
                </a:solidFill>
                <a:latin typeface="Times New Roman"/>
                <a:cs typeface="Times New Roman"/>
              </a:rPr>
              <a:t>22R91A04H8:P.THARUN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600" spc="-10">
                <a:solidFill>
                  <a:srgbClr val="D54686"/>
                </a:solidFill>
                <a:latin typeface="Times New Roman"/>
                <a:cs typeface="Times New Roman"/>
              </a:rPr>
              <a:t>22R91A04J7:P.NAVEEN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545336" y="170687"/>
            <a:ext cx="10197465" cy="1457325"/>
            <a:chOff x="1545336" y="170687"/>
            <a:chExt cx="10197465" cy="14573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5336" y="170687"/>
              <a:ext cx="1313688" cy="144018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9528" y="216407"/>
              <a:ext cx="1802892" cy="1411224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8117205" y="4195953"/>
            <a:ext cx="2973705" cy="732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26135">
              <a:lnSpc>
                <a:spcPct val="100000"/>
              </a:lnSpc>
              <a:spcBef>
                <a:spcPts val="100"/>
              </a:spcBef>
            </a:pPr>
            <a:r>
              <a:rPr dirty="0" u="sng" sz="1800" b="1">
                <a:solidFill>
                  <a:srgbClr val="A666E0"/>
                </a:solidFill>
                <a:uFill>
                  <a:solidFill>
                    <a:srgbClr val="A666E0"/>
                  </a:solidFill>
                </a:uFill>
                <a:latin typeface="Times New Roman"/>
                <a:cs typeface="Times New Roman"/>
              </a:rPr>
              <a:t>TEAM</a:t>
            </a:r>
            <a:r>
              <a:rPr dirty="0" u="sng" sz="1800" spc="-45" b="1">
                <a:solidFill>
                  <a:srgbClr val="A666E0"/>
                </a:solidFill>
                <a:uFill>
                  <a:solidFill>
                    <a:srgbClr val="A666E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solidFill>
                  <a:srgbClr val="A666E0"/>
                </a:solidFill>
                <a:uFill>
                  <a:solidFill>
                    <a:srgbClr val="A666E0"/>
                  </a:solidFill>
                </a:uFill>
                <a:latin typeface="Times New Roman"/>
                <a:cs typeface="Times New Roman"/>
              </a:rPr>
              <a:t>MEMBERS</a:t>
            </a:r>
            <a:r>
              <a:rPr dirty="0" u="sng" sz="1800" spc="-50" b="1">
                <a:solidFill>
                  <a:srgbClr val="A666E0"/>
                </a:solidFill>
                <a:uFill>
                  <a:solidFill>
                    <a:srgbClr val="A666E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25" b="1">
                <a:solidFill>
                  <a:srgbClr val="A666E0"/>
                </a:solidFill>
                <a:uFill>
                  <a:solidFill>
                    <a:srgbClr val="A666E0"/>
                  </a:solidFill>
                </a:uFill>
                <a:latin typeface="Times New Roman"/>
                <a:cs typeface="Times New Roman"/>
              </a:rPr>
              <a:t>:-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1600" spc="-10">
                <a:solidFill>
                  <a:srgbClr val="D54686"/>
                </a:solidFill>
                <a:latin typeface="Times New Roman"/>
                <a:cs typeface="Times New Roman"/>
              </a:rPr>
              <a:t>22R91A04F4:M.NANDINI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26311" y="5090972"/>
            <a:ext cx="2982595" cy="88836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1800" b="1">
                <a:solidFill>
                  <a:srgbClr val="6F2F9F"/>
                </a:solidFill>
                <a:latin typeface="Times New Roman"/>
                <a:cs typeface="Times New Roman"/>
              </a:rPr>
              <a:t>GUIDED</a:t>
            </a:r>
            <a:r>
              <a:rPr dirty="0" sz="1800" spc="41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6F2F9F"/>
                </a:solidFill>
                <a:latin typeface="Times New Roman"/>
                <a:cs typeface="Times New Roman"/>
              </a:rPr>
              <a:t>BY:-</a:t>
            </a:r>
            <a:endParaRPr sz="1800">
              <a:latin typeface="Times New Roman"/>
              <a:cs typeface="Times New Roman"/>
            </a:endParaRPr>
          </a:p>
          <a:p>
            <a:pPr algn="ctr" marL="1905">
              <a:lnSpc>
                <a:spcPts val="2014"/>
              </a:lnSpc>
              <a:spcBef>
                <a:spcPts val="300"/>
              </a:spcBef>
            </a:pPr>
            <a:r>
              <a:rPr dirty="0" sz="1800" b="1">
                <a:solidFill>
                  <a:srgbClr val="D54686"/>
                </a:solidFill>
                <a:latin typeface="Corbel"/>
                <a:cs typeface="Corbel"/>
              </a:rPr>
              <a:t>Mrs.</a:t>
            </a:r>
            <a:r>
              <a:rPr dirty="0" sz="1800" spc="-60" b="1">
                <a:solidFill>
                  <a:srgbClr val="D54686"/>
                </a:solidFill>
                <a:latin typeface="Corbel"/>
                <a:cs typeface="Corbel"/>
              </a:rPr>
              <a:t> </a:t>
            </a:r>
            <a:r>
              <a:rPr dirty="0" sz="1800" b="1">
                <a:solidFill>
                  <a:srgbClr val="D54686"/>
                </a:solidFill>
                <a:latin typeface="Corbel"/>
                <a:cs typeface="Corbel"/>
              </a:rPr>
              <a:t>S.</a:t>
            </a:r>
            <a:r>
              <a:rPr dirty="0" sz="1800" spc="-10" b="1">
                <a:solidFill>
                  <a:srgbClr val="D54686"/>
                </a:solidFill>
                <a:latin typeface="Corbel"/>
                <a:cs typeface="Corbel"/>
              </a:rPr>
              <a:t> PRATHYUSHA</a:t>
            </a:r>
            <a:endParaRPr sz="1800">
              <a:latin typeface="Corbel"/>
              <a:cs typeface="Corbel"/>
            </a:endParaRPr>
          </a:p>
          <a:p>
            <a:pPr algn="ctr">
              <a:lnSpc>
                <a:spcPts val="2014"/>
              </a:lnSpc>
            </a:pPr>
            <a:r>
              <a:rPr dirty="0" sz="1800" spc="-20" b="1">
                <a:solidFill>
                  <a:srgbClr val="D54686"/>
                </a:solidFill>
                <a:latin typeface="Times New Roman"/>
                <a:cs typeface="Times New Roman"/>
              </a:rPr>
              <a:t>(ASSISSTANT</a:t>
            </a:r>
            <a:r>
              <a:rPr dirty="0" sz="1800" spc="-5" b="1">
                <a:solidFill>
                  <a:srgbClr val="D54686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D54686"/>
                </a:solidFill>
                <a:latin typeface="Times New Roman"/>
                <a:cs typeface="Times New Roman"/>
              </a:rPr>
              <a:t>PROFESSOR)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96870" y="223215"/>
            <a:ext cx="680085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Corbel"/>
                <a:cs typeface="Corbel"/>
              </a:rPr>
              <a:t>TEEGALA</a:t>
            </a:r>
            <a:r>
              <a:rPr dirty="0" spc="-100" b="0">
                <a:latin typeface="Corbel"/>
                <a:cs typeface="Corbel"/>
              </a:rPr>
              <a:t> </a:t>
            </a:r>
            <a:r>
              <a:rPr dirty="0" b="0">
                <a:latin typeface="Corbel"/>
                <a:cs typeface="Corbel"/>
              </a:rPr>
              <a:t>KRISHNA</a:t>
            </a:r>
            <a:r>
              <a:rPr dirty="0" spc="-60" b="0">
                <a:latin typeface="Corbel"/>
                <a:cs typeface="Corbel"/>
              </a:rPr>
              <a:t> </a:t>
            </a:r>
            <a:r>
              <a:rPr dirty="0" spc="-10" b="0">
                <a:latin typeface="Corbel"/>
                <a:cs typeface="Corbel"/>
              </a:rPr>
              <a:t>REDDY</a:t>
            </a:r>
            <a:r>
              <a:rPr dirty="0" spc="-55" b="0">
                <a:latin typeface="Corbel"/>
                <a:cs typeface="Corbel"/>
              </a:rPr>
              <a:t> </a:t>
            </a:r>
            <a:r>
              <a:rPr dirty="0" spc="-10" b="0">
                <a:latin typeface="Corbel"/>
                <a:cs typeface="Corbel"/>
              </a:rPr>
              <a:t>ENGINEERING</a:t>
            </a:r>
            <a:r>
              <a:rPr dirty="0" spc="-110" b="0">
                <a:latin typeface="Corbel"/>
                <a:cs typeface="Corbel"/>
              </a:rPr>
              <a:t> </a:t>
            </a:r>
            <a:r>
              <a:rPr dirty="0" spc="-10" b="0">
                <a:latin typeface="Corbel"/>
                <a:cs typeface="Corbel"/>
              </a:rPr>
              <a:t>COLLEGE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369313" y="583438"/>
            <a:ext cx="10260330" cy="28143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178560">
              <a:lnSpc>
                <a:spcPts val="2350"/>
              </a:lnSpc>
              <a:spcBef>
                <a:spcPts val="105"/>
              </a:spcBef>
            </a:pPr>
            <a:r>
              <a:rPr dirty="0" sz="2000" spc="-10">
                <a:solidFill>
                  <a:srgbClr val="7E7E7E"/>
                </a:solidFill>
                <a:latin typeface="Corbel"/>
                <a:cs typeface="Corbel"/>
              </a:rPr>
              <a:t>(UGC-Autonomous)</a:t>
            </a:r>
            <a:endParaRPr sz="2000">
              <a:latin typeface="Corbel"/>
              <a:cs typeface="Corbel"/>
            </a:endParaRPr>
          </a:p>
          <a:p>
            <a:pPr algn="ctr" marL="3084195" marR="1901825">
              <a:lnSpc>
                <a:spcPts val="1680"/>
              </a:lnSpc>
              <a:spcBef>
                <a:spcPts val="5"/>
              </a:spcBef>
            </a:pPr>
            <a:r>
              <a:rPr dirty="0" sz="1400">
                <a:latin typeface="Corbel"/>
                <a:cs typeface="Corbel"/>
              </a:rPr>
              <a:t>Approved</a:t>
            </a:r>
            <a:r>
              <a:rPr dirty="0" sz="1400" spc="-1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by</a:t>
            </a:r>
            <a:r>
              <a:rPr dirty="0" sz="1400" spc="-70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AICTE,</a:t>
            </a:r>
            <a:r>
              <a:rPr dirty="0" sz="1400" spc="-75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Affiliated</a:t>
            </a:r>
            <a:r>
              <a:rPr dirty="0" sz="1400" spc="-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by</a:t>
            </a:r>
            <a:r>
              <a:rPr dirty="0" sz="1400" spc="-35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JNTUH,</a:t>
            </a:r>
            <a:r>
              <a:rPr dirty="0" sz="1400" spc="-75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Accredited</a:t>
            </a:r>
            <a:r>
              <a:rPr dirty="0" sz="1400">
                <a:latin typeface="Corbel"/>
                <a:cs typeface="Corbel"/>
              </a:rPr>
              <a:t> by</a:t>
            </a:r>
            <a:r>
              <a:rPr dirty="0" sz="1400" spc="-1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NAAC-</a:t>
            </a:r>
            <a:r>
              <a:rPr dirty="0" sz="1400" spc="-5">
                <a:latin typeface="Corbel"/>
                <a:cs typeface="Corbel"/>
              </a:rPr>
              <a:t> </a:t>
            </a:r>
            <a:r>
              <a:rPr dirty="0" sz="1400" spc="-70">
                <a:latin typeface="Corbel"/>
                <a:cs typeface="Corbel"/>
              </a:rPr>
              <a:t>‘A’</a:t>
            </a:r>
            <a:r>
              <a:rPr dirty="0" sz="1400" spc="-55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Grade </a:t>
            </a:r>
            <a:r>
              <a:rPr dirty="0" sz="1400">
                <a:latin typeface="Corbel"/>
                <a:cs typeface="Corbel"/>
              </a:rPr>
              <a:t>Medbowli</a:t>
            </a:r>
            <a:r>
              <a:rPr dirty="0" sz="1400" spc="-4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,</a:t>
            </a:r>
            <a:r>
              <a:rPr dirty="0" sz="1400" spc="-1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Meerpet</a:t>
            </a:r>
            <a:r>
              <a:rPr dirty="0" sz="1400" spc="229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,</a:t>
            </a:r>
            <a:r>
              <a:rPr dirty="0" sz="1400" spc="254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Balapur</a:t>
            </a:r>
            <a:r>
              <a:rPr dirty="0" sz="1400" spc="-15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,Hyderabad,</a:t>
            </a:r>
            <a:r>
              <a:rPr dirty="0" sz="1400" spc="-110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Telangana-</a:t>
            </a:r>
            <a:r>
              <a:rPr dirty="0" sz="1400" spc="-20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500097</a:t>
            </a:r>
            <a:endParaRPr sz="1400">
              <a:latin typeface="Corbel"/>
              <a:cs typeface="Corbel"/>
            </a:endParaRPr>
          </a:p>
          <a:p>
            <a:pPr algn="ctr" marL="1178560">
              <a:lnSpc>
                <a:spcPts val="1625"/>
              </a:lnSpc>
            </a:pPr>
            <a:r>
              <a:rPr dirty="0" sz="1400">
                <a:latin typeface="Corbel"/>
                <a:cs typeface="Corbel"/>
              </a:rPr>
              <a:t>Mob:</a:t>
            </a:r>
            <a:r>
              <a:rPr dirty="0" sz="1400" spc="-5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9393959597.</a:t>
            </a:r>
            <a:r>
              <a:rPr dirty="0" sz="1400" spc="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Email:</a:t>
            </a:r>
            <a:r>
              <a:rPr dirty="0" sz="1400" spc="5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  <a:hlinkClick r:id="rId4"/>
              </a:rPr>
              <a:t>info@tkrec.ac.in,</a:t>
            </a:r>
            <a:r>
              <a:rPr dirty="0" sz="1400" spc="-15">
                <a:latin typeface="Corbel"/>
                <a:cs typeface="Corbel"/>
              </a:rPr>
              <a:t> </a:t>
            </a:r>
            <a:r>
              <a:rPr dirty="0" u="sng" sz="1400" spc="-10">
                <a:solidFill>
                  <a:srgbClr val="2F85EC"/>
                </a:solidFill>
                <a:uFill>
                  <a:solidFill>
                    <a:srgbClr val="2E85EC"/>
                  </a:solidFill>
                </a:uFill>
                <a:latin typeface="Corbel"/>
                <a:cs typeface="Corbel"/>
                <a:hlinkClick r:id="rId5"/>
              </a:rPr>
              <a:t>deanacademics@tkrec.ac.in</a:t>
            </a:r>
            <a:endParaRPr sz="14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400">
              <a:latin typeface="Corbel"/>
              <a:cs typeface="Corbel"/>
            </a:endParaRPr>
          </a:p>
          <a:p>
            <a:pPr algn="ctr" marL="88900">
              <a:lnSpc>
                <a:spcPct val="100000"/>
              </a:lnSpc>
              <a:spcBef>
                <a:spcPts val="5"/>
              </a:spcBef>
            </a:pPr>
            <a:r>
              <a:rPr dirty="0" sz="1800" spc="-25" b="1">
                <a:latin typeface="Corbel"/>
                <a:cs typeface="Corbel"/>
              </a:rPr>
              <a:t>DEPARTMENT</a:t>
            </a:r>
            <a:r>
              <a:rPr dirty="0" sz="1800" spc="-5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OF</a:t>
            </a:r>
            <a:r>
              <a:rPr dirty="0" sz="1800" spc="20" b="1">
                <a:latin typeface="Corbel"/>
                <a:cs typeface="Corbel"/>
              </a:rPr>
              <a:t> </a:t>
            </a:r>
            <a:r>
              <a:rPr dirty="0" sz="1800" spc="-10" b="1">
                <a:latin typeface="Corbel"/>
                <a:cs typeface="Corbel"/>
              </a:rPr>
              <a:t>ELECTRONICS</a:t>
            </a:r>
            <a:r>
              <a:rPr dirty="0" sz="1800" spc="-60" b="1">
                <a:latin typeface="Corbel"/>
                <a:cs typeface="Corbel"/>
              </a:rPr>
              <a:t> </a:t>
            </a:r>
            <a:r>
              <a:rPr dirty="0" sz="1800" spc="-20" b="1">
                <a:latin typeface="Corbel"/>
                <a:cs typeface="Corbel"/>
              </a:rPr>
              <a:t>AND</a:t>
            </a:r>
            <a:r>
              <a:rPr dirty="0" sz="1800" spc="-60" b="1">
                <a:latin typeface="Corbel"/>
                <a:cs typeface="Corbel"/>
              </a:rPr>
              <a:t> </a:t>
            </a:r>
            <a:r>
              <a:rPr dirty="0" sz="1800" spc="-25" b="1">
                <a:latin typeface="Corbel"/>
                <a:cs typeface="Corbel"/>
              </a:rPr>
              <a:t>COMMUNICATION</a:t>
            </a:r>
            <a:r>
              <a:rPr dirty="0" sz="1800" b="1">
                <a:latin typeface="Corbel"/>
                <a:cs typeface="Corbel"/>
              </a:rPr>
              <a:t> </a:t>
            </a:r>
            <a:r>
              <a:rPr dirty="0" baseline="9259" sz="2700" spc="-15" b="1">
                <a:latin typeface="Times New Roman"/>
                <a:cs typeface="Times New Roman"/>
              </a:rPr>
              <a:t>ENGINEERING</a:t>
            </a:r>
            <a:endParaRPr baseline="9259" sz="2700">
              <a:latin typeface="Times New Roman"/>
              <a:cs typeface="Times New Roman"/>
            </a:endParaRPr>
          </a:p>
          <a:p>
            <a:pPr algn="r" marR="55880">
              <a:lnSpc>
                <a:spcPct val="100000"/>
              </a:lnSpc>
              <a:spcBef>
                <a:spcPts val="915"/>
              </a:spcBef>
            </a:pPr>
            <a:r>
              <a:rPr dirty="0" sz="2000" spc="-25" b="1">
                <a:latin typeface="Times New Roman"/>
                <a:cs typeface="Times New Roman"/>
              </a:rPr>
              <a:t>BATCH</a:t>
            </a:r>
            <a:r>
              <a:rPr dirty="0" sz="2000" spc="-9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NO:06</a:t>
            </a:r>
            <a:endParaRPr sz="2000">
              <a:latin typeface="Times New Roman"/>
              <a:cs typeface="Times New Roman"/>
            </a:endParaRPr>
          </a:p>
          <a:p>
            <a:pPr marL="25400" marR="1052195" indent="76200">
              <a:lnSpc>
                <a:spcPct val="104500"/>
              </a:lnSpc>
              <a:spcBef>
                <a:spcPts val="1900"/>
              </a:spcBef>
            </a:pPr>
            <a:r>
              <a:rPr dirty="0" sz="2000" spc="-10" b="1">
                <a:solidFill>
                  <a:srgbClr val="6F2F9F"/>
                </a:solidFill>
                <a:latin typeface="Times New Roman"/>
                <a:cs typeface="Times New Roman"/>
              </a:rPr>
              <a:t>SMART</a:t>
            </a:r>
            <a:r>
              <a:rPr dirty="0" sz="2000" spc="-90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6F2F9F"/>
                </a:solidFill>
                <a:latin typeface="Times New Roman"/>
                <a:cs typeface="Times New Roman"/>
              </a:rPr>
              <a:t>SHOE</a:t>
            </a:r>
            <a:r>
              <a:rPr dirty="0" sz="2000" spc="-2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6F2F9F"/>
                </a:solidFill>
                <a:latin typeface="Times New Roman"/>
                <a:cs typeface="Times New Roman"/>
              </a:rPr>
              <a:t>FOR</a:t>
            </a:r>
            <a:r>
              <a:rPr dirty="0" sz="2000" spc="-6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6F2F9F"/>
                </a:solidFill>
                <a:latin typeface="Times New Roman"/>
                <a:cs typeface="Times New Roman"/>
              </a:rPr>
              <a:t>THE</a:t>
            </a:r>
            <a:r>
              <a:rPr dirty="0" sz="2000" spc="-40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6F2F9F"/>
                </a:solidFill>
                <a:latin typeface="Times New Roman"/>
                <a:cs typeface="Times New Roman"/>
              </a:rPr>
              <a:t>BLIND</a:t>
            </a:r>
            <a:r>
              <a:rPr dirty="0" sz="2000" spc="-2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6F2F9F"/>
                </a:solidFill>
                <a:latin typeface="Times New Roman"/>
                <a:cs typeface="Times New Roman"/>
              </a:rPr>
              <a:t>PEOPLE</a:t>
            </a:r>
            <a:r>
              <a:rPr dirty="0" sz="2000" spc="-3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6F2F9F"/>
                </a:solidFill>
                <a:latin typeface="Times New Roman"/>
                <a:cs typeface="Times New Roman"/>
              </a:rPr>
              <a:t>USING</a:t>
            </a:r>
            <a:r>
              <a:rPr dirty="0" sz="2000" spc="-2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2000" spc="-30" b="1">
                <a:solidFill>
                  <a:srgbClr val="6F2F9F"/>
                </a:solidFill>
                <a:latin typeface="Times New Roman"/>
                <a:cs typeface="Times New Roman"/>
              </a:rPr>
              <a:t>ULTRASONIC</a:t>
            </a:r>
            <a:r>
              <a:rPr dirty="0" sz="2000" spc="-4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6F2F9F"/>
                </a:solidFill>
                <a:latin typeface="Times New Roman"/>
                <a:cs typeface="Times New Roman"/>
              </a:rPr>
              <a:t>SENSOR</a:t>
            </a:r>
            <a:r>
              <a:rPr dirty="0" sz="2000" spc="-114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2000" spc="-25" b="1">
                <a:solidFill>
                  <a:srgbClr val="6F2F9F"/>
                </a:solidFill>
                <a:latin typeface="Times New Roman"/>
                <a:cs typeface="Times New Roman"/>
              </a:rPr>
              <a:t>AND </a:t>
            </a:r>
            <a:r>
              <a:rPr dirty="0" sz="2000" b="1">
                <a:solidFill>
                  <a:srgbClr val="6F2F9F"/>
                </a:solidFill>
                <a:latin typeface="Times New Roman"/>
                <a:cs typeface="Times New Roman"/>
              </a:rPr>
              <a:t>VOICE</a:t>
            </a:r>
            <a:r>
              <a:rPr dirty="0" sz="2000" spc="-100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6F2F9F"/>
                </a:solidFill>
                <a:latin typeface="Times New Roman"/>
                <a:cs typeface="Times New Roman"/>
              </a:rPr>
              <a:t>GUIDANCE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75205" y="1274796"/>
            <a:ext cx="4326890" cy="221996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265430" indent="-252729">
              <a:lnSpc>
                <a:spcPct val="100000"/>
              </a:lnSpc>
              <a:spcBef>
                <a:spcPts val="575"/>
              </a:spcBef>
              <a:buSzPct val="97500"/>
              <a:buAutoNum type="arabicPeriod"/>
              <a:tabLst>
                <a:tab pos="265430" algn="l"/>
              </a:tabLst>
            </a:pPr>
            <a:r>
              <a:rPr dirty="0" sz="2000" spc="-10">
                <a:latin typeface="Times New Roman"/>
                <a:cs typeface="Times New Roman"/>
              </a:rPr>
              <a:t>OBJECTIVE</a:t>
            </a:r>
            <a:endParaRPr sz="2000">
              <a:latin typeface="Times New Roman"/>
              <a:cs typeface="Times New Roman"/>
            </a:endParaRPr>
          </a:p>
          <a:p>
            <a:pPr marL="201930" indent="-198120">
              <a:lnSpc>
                <a:spcPct val="100000"/>
              </a:lnSpc>
              <a:spcBef>
                <a:spcPts val="480"/>
              </a:spcBef>
              <a:buSzPct val="97500"/>
              <a:buAutoNum type="arabicPeriod"/>
              <a:tabLst>
                <a:tab pos="201930" algn="l"/>
              </a:tabLst>
            </a:pPr>
            <a:r>
              <a:rPr dirty="0" sz="2000" spc="-10">
                <a:latin typeface="Times New Roman"/>
                <a:cs typeface="Times New Roman"/>
              </a:rPr>
              <a:t>ABSTRACT</a:t>
            </a:r>
            <a:endParaRPr sz="2000">
              <a:latin typeface="Times New Roman"/>
              <a:cs typeface="Times New Roman"/>
            </a:endParaRPr>
          </a:p>
          <a:p>
            <a:pPr marL="201295" indent="-198120">
              <a:lnSpc>
                <a:spcPct val="100000"/>
              </a:lnSpc>
              <a:spcBef>
                <a:spcPts val="484"/>
              </a:spcBef>
              <a:buSzPct val="97500"/>
              <a:buAutoNum type="arabicPeriod"/>
              <a:tabLst>
                <a:tab pos="201295" algn="l"/>
              </a:tabLst>
            </a:pPr>
            <a:r>
              <a:rPr dirty="0" sz="2000">
                <a:latin typeface="Times New Roman"/>
                <a:cs typeface="Times New Roman"/>
              </a:rPr>
              <a:t>BLOCK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DIAGRAM</a:t>
            </a:r>
            <a:endParaRPr sz="2000">
              <a:latin typeface="Times New Roman"/>
              <a:cs typeface="Times New Roman"/>
            </a:endParaRPr>
          </a:p>
          <a:p>
            <a:pPr marL="201295" indent="-198120">
              <a:lnSpc>
                <a:spcPct val="100000"/>
              </a:lnSpc>
              <a:spcBef>
                <a:spcPts val="480"/>
              </a:spcBef>
              <a:buSzPct val="97500"/>
              <a:buAutoNum type="arabicPeriod"/>
              <a:tabLst>
                <a:tab pos="201295" algn="l"/>
              </a:tabLst>
            </a:pPr>
            <a:r>
              <a:rPr dirty="0" sz="2000" spc="-10">
                <a:latin typeface="Times New Roman"/>
                <a:cs typeface="Times New Roman"/>
              </a:rPr>
              <a:t>METHODOLOGY</a:t>
            </a:r>
            <a:endParaRPr sz="2000">
              <a:latin typeface="Times New Roman"/>
              <a:cs typeface="Times New Roman"/>
            </a:endParaRPr>
          </a:p>
          <a:p>
            <a:pPr marL="202565" indent="-198120">
              <a:lnSpc>
                <a:spcPct val="100000"/>
              </a:lnSpc>
              <a:spcBef>
                <a:spcPts val="480"/>
              </a:spcBef>
              <a:buSzPct val="97500"/>
              <a:buAutoNum type="arabicPeriod"/>
              <a:tabLst>
                <a:tab pos="202565" algn="l"/>
              </a:tabLst>
            </a:pPr>
            <a:r>
              <a:rPr dirty="0" sz="2000" spc="-65">
                <a:latin typeface="Times New Roman"/>
                <a:cs typeface="Times New Roman"/>
              </a:rPr>
              <a:t>ADVANTAGES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APPLICATIONS</a:t>
            </a:r>
            <a:endParaRPr sz="2000">
              <a:latin typeface="Times New Roman"/>
              <a:cs typeface="Times New Roman"/>
            </a:endParaRPr>
          </a:p>
          <a:p>
            <a:pPr marL="202565" indent="-198120">
              <a:lnSpc>
                <a:spcPct val="100000"/>
              </a:lnSpc>
              <a:spcBef>
                <a:spcPts val="480"/>
              </a:spcBef>
              <a:buSzPct val="97500"/>
              <a:buAutoNum type="arabicPeriod"/>
              <a:tabLst>
                <a:tab pos="202565" algn="l"/>
              </a:tabLst>
            </a:pPr>
            <a:r>
              <a:rPr dirty="0" sz="2000" spc="-10">
                <a:latin typeface="Times New Roman"/>
                <a:cs typeface="Times New Roman"/>
              </a:rPr>
              <a:t>EXPECTED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RESULT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332" rIns="0" bIns="0" rtlCol="0" vert="horz">
            <a:spAutoFit/>
          </a:bodyPr>
          <a:lstStyle/>
          <a:p>
            <a:pPr marL="254254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Table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 spc="-10"/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427" rIns="0" bIns="0" rtlCol="0" vert="horz">
            <a:spAutoFit/>
          </a:bodyPr>
          <a:lstStyle/>
          <a:p>
            <a:pPr marL="26327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731010" y="1503934"/>
            <a:ext cx="10078720" cy="1932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46405">
              <a:lnSpc>
                <a:spcPct val="100000"/>
              </a:lnSpc>
              <a:spcBef>
                <a:spcPts val="100"/>
              </a:spcBef>
              <a:tabLst>
                <a:tab pos="3716020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goal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initiative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create</a:t>
            </a:r>
            <a:r>
              <a:rPr dirty="0" sz="1800">
                <a:latin typeface="Times New Roman"/>
                <a:cs typeface="Times New Roman"/>
              </a:rPr>
              <a:t>	smart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blind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people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improve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mobility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safety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for </a:t>
            </a:r>
            <a:r>
              <a:rPr dirty="0" sz="1800">
                <a:latin typeface="Times New Roman"/>
                <a:cs typeface="Times New Roman"/>
              </a:rPr>
              <a:t>visually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impaired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individuals.</a:t>
            </a:r>
            <a:endParaRPr sz="1800">
              <a:latin typeface="Times New Roman"/>
              <a:cs typeface="Times New Roman"/>
            </a:endParaRPr>
          </a:p>
          <a:p>
            <a:pPr marL="299085" marR="473075" indent="-287020">
              <a:lnSpc>
                <a:spcPct val="100000"/>
              </a:lnSpc>
              <a:spcBef>
                <a:spcPts val="1035"/>
              </a:spcBef>
              <a:buFont typeface="Wingdings"/>
              <a:buChar char=""/>
              <a:tabLst>
                <a:tab pos="299085" algn="l"/>
                <a:tab pos="356870" algn="l"/>
              </a:tabLst>
            </a:pPr>
            <a:r>
              <a:rPr dirty="0" baseline="3086" sz="2700">
                <a:solidFill>
                  <a:srgbClr val="00AFEF"/>
                </a:solidFill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ultrasonic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obstacles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real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time.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voice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guidance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alert </a:t>
            </a:r>
            <a:r>
              <a:rPr dirty="0" sz="1800">
                <a:latin typeface="Times New Roman"/>
                <a:cs typeface="Times New Roman"/>
              </a:rPr>
              <a:t>users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about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nearby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obstacles.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spcBef>
                <a:spcPts val="1020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hands-</a:t>
            </a:r>
            <a:r>
              <a:rPr dirty="0" sz="1800">
                <a:latin typeface="Times New Roman"/>
                <a:cs typeface="Times New Roman"/>
              </a:rPr>
              <a:t>free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solution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enhances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independence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reliance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traditional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aids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like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canes.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aims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affordable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user-</a:t>
            </a:r>
            <a:r>
              <a:rPr dirty="0" sz="1800">
                <a:latin typeface="Times New Roman"/>
                <a:cs typeface="Times New Roman"/>
              </a:rPr>
              <a:t>friendly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assistive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device.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5094" rIns="0" bIns="0" rtlCol="0" vert="horz">
            <a:spAutoFit/>
          </a:bodyPr>
          <a:lstStyle/>
          <a:p>
            <a:pPr marL="276669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ABSTRACT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685289" y="1078738"/>
            <a:ext cx="9962515" cy="4103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  <a:tab pos="352425" algn="l"/>
              </a:tabLst>
            </a:pPr>
            <a:r>
              <a:rPr dirty="0" baseline="3086" sz="2700">
                <a:solidFill>
                  <a:srgbClr val="00AFEF"/>
                </a:solidFill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presents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Smart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Blind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People,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integrating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ultrasonic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voice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guidance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to </a:t>
            </a:r>
            <a:r>
              <a:rPr dirty="0" sz="1800">
                <a:latin typeface="Times New Roman"/>
                <a:cs typeface="Times New Roman"/>
              </a:rPr>
              <a:t>enhance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mobility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independence.</a:t>
            </a:r>
            <a:endParaRPr sz="1800">
              <a:latin typeface="Times New Roman"/>
              <a:cs typeface="Times New Roman"/>
            </a:endParaRPr>
          </a:p>
          <a:p>
            <a:pPr marL="299085" marR="647065" indent="-287020">
              <a:lnSpc>
                <a:spcPct val="100000"/>
              </a:lnSpc>
              <a:spcBef>
                <a:spcPts val="1020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employs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ultrasonic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obstacles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user's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path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real-</a:t>
            </a:r>
            <a:r>
              <a:rPr dirty="0" sz="1800" spc="-20">
                <a:latin typeface="Times New Roman"/>
                <a:cs typeface="Times New Roman"/>
              </a:rPr>
              <a:t>time </a:t>
            </a:r>
            <a:r>
              <a:rPr dirty="0" sz="1800">
                <a:latin typeface="Times New Roman"/>
                <a:cs typeface="Times New Roman"/>
              </a:rPr>
              <a:t>audio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feedback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voice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module.</a:t>
            </a:r>
            <a:endParaRPr sz="1800">
              <a:latin typeface="Times New Roman"/>
              <a:cs typeface="Times New Roman"/>
            </a:endParaRPr>
          </a:p>
          <a:p>
            <a:pPr marL="299085" marR="420370" indent="-287020">
              <a:lnSpc>
                <a:spcPct val="100000"/>
              </a:lnSpc>
              <a:spcBef>
                <a:spcPts val="1035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ultrasonic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continuously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surroundings,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when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obstacle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within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a </a:t>
            </a:r>
            <a:r>
              <a:rPr dirty="0" sz="1800">
                <a:latin typeface="Times New Roman"/>
                <a:cs typeface="Times New Roman"/>
              </a:rPr>
              <a:t>predefined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range,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microcontroller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triggers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voice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alerts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through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speaker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AFEF"/>
              </a:buClr>
              <a:buFont typeface="Wingdings"/>
              <a:buChar char=""/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00AFEF"/>
              </a:buClr>
              <a:buFont typeface="Wingdings"/>
              <a:buChar char="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innovation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aims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improve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safety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autonomy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visually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impaired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individuals,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reducing</a:t>
            </a:r>
            <a:endParaRPr sz="1800">
              <a:latin typeface="Times New Roman"/>
              <a:cs typeface="Times New Roman"/>
            </a:endParaRPr>
          </a:p>
          <a:p>
            <a:pPr marL="299085" marR="13081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their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dependency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traditional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aids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like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canes.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smart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cost-effective,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lightweight,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user- </a:t>
            </a:r>
            <a:r>
              <a:rPr dirty="0" sz="1800">
                <a:latin typeface="Times New Roman"/>
                <a:cs typeface="Times New Roman"/>
              </a:rPr>
              <a:t>friendly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solution,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making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viable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widespread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adoption.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Keywords: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Smart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Shoe,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Ultrasonic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Sensor,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40">
                <a:latin typeface="Times New Roman"/>
                <a:cs typeface="Times New Roman"/>
              </a:rPr>
              <a:t>Voice </a:t>
            </a:r>
            <a:r>
              <a:rPr dirty="0" sz="1800">
                <a:latin typeface="Times New Roman"/>
                <a:cs typeface="Times New Roman"/>
              </a:rPr>
              <a:t>Guidance,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Assistive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Technology,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Blind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Navigation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316" y="-317"/>
            <a:ext cx="12192635" cy="6858634"/>
            <a:chOff x="-316" y="-317"/>
            <a:chExt cx="12192635" cy="6858634"/>
          </a:xfrm>
        </p:grpSpPr>
        <p:sp>
          <p:nvSpPr>
            <p:cNvPr id="3" name="object 3" descr=""/>
            <p:cNvSpPr/>
            <p:nvPr/>
          </p:nvSpPr>
          <p:spPr>
            <a:xfrm>
              <a:off x="636" y="635"/>
              <a:ext cx="12190095" cy="6856095"/>
            </a:xfrm>
            <a:custGeom>
              <a:avLst/>
              <a:gdLst/>
              <a:ahLst/>
              <a:cxnLst/>
              <a:rect l="l" t="t" r="r" b="b"/>
              <a:pathLst>
                <a:path w="12190095" h="6856095">
                  <a:moveTo>
                    <a:pt x="0" y="6856095"/>
                  </a:moveTo>
                  <a:lnTo>
                    <a:pt x="12190095" y="6856095"/>
                  </a:lnTo>
                  <a:lnTo>
                    <a:pt x="12190095" y="0"/>
                  </a:lnTo>
                  <a:lnTo>
                    <a:pt x="0" y="0"/>
                  </a:lnTo>
                  <a:lnTo>
                    <a:pt x="0" y="685609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" y="5943598"/>
              <a:ext cx="1181536" cy="79057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0"/>
              <a:ext cx="12001500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434" rIns="0" bIns="0" rtlCol="0" vert="horz">
            <a:spAutoFit/>
          </a:bodyPr>
          <a:lstStyle/>
          <a:p>
            <a:pPr marL="2437130">
              <a:lnSpc>
                <a:spcPct val="100000"/>
              </a:lnSpc>
              <a:spcBef>
                <a:spcPts val="100"/>
              </a:spcBef>
            </a:pPr>
            <a:r>
              <a:rPr dirty="0"/>
              <a:t>BLOCK</a:t>
            </a:r>
            <a:r>
              <a:rPr dirty="0" spc="-10"/>
              <a:t> DIAGRAM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2989326" y="1664207"/>
            <a:ext cx="7576184" cy="4724400"/>
            <a:chOff x="2989326" y="1664207"/>
            <a:chExt cx="7576184" cy="472440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9326" y="1664207"/>
              <a:ext cx="7576184" cy="47244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96768" y="3104387"/>
              <a:ext cx="69342" cy="6934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35908" y="2974847"/>
              <a:ext cx="872489" cy="109651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43400" y="4305300"/>
              <a:ext cx="1495425" cy="447675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4381500" y="4305300"/>
            <a:ext cx="1190625" cy="428625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94615" marR="511175">
              <a:lnSpc>
                <a:spcPct val="110000"/>
              </a:lnSpc>
              <a:spcBef>
                <a:spcPts val="200"/>
              </a:spcBef>
            </a:pPr>
            <a:r>
              <a:rPr dirty="0" sz="1100" spc="-10">
                <a:latin typeface="Calibri"/>
                <a:cs typeface="Calibri"/>
              </a:rPr>
              <a:t>Ultrasonic sensor4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0438" rIns="0" bIns="0" rtlCol="0" vert="horz">
            <a:spAutoFit/>
          </a:bodyPr>
          <a:lstStyle/>
          <a:p>
            <a:pPr marL="233553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METHODOLOGY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/>
              <a:t>The</a:t>
            </a:r>
            <a:r>
              <a:rPr dirty="0" sz="1800" spc="-25"/>
              <a:t> </a:t>
            </a:r>
            <a:r>
              <a:rPr dirty="0" sz="1800"/>
              <a:t>smart</a:t>
            </a:r>
            <a:r>
              <a:rPr dirty="0" sz="1800" spc="-25"/>
              <a:t> </a:t>
            </a:r>
            <a:r>
              <a:rPr dirty="0" sz="1800"/>
              <a:t>shoe</a:t>
            </a:r>
            <a:r>
              <a:rPr dirty="0" sz="1800" spc="-30"/>
              <a:t> </a:t>
            </a:r>
            <a:r>
              <a:rPr dirty="0" sz="1800"/>
              <a:t>is</a:t>
            </a:r>
            <a:r>
              <a:rPr dirty="0" sz="1800" spc="-40"/>
              <a:t> </a:t>
            </a:r>
            <a:r>
              <a:rPr dirty="0" sz="1800"/>
              <a:t>designed</a:t>
            </a:r>
            <a:r>
              <a:rPr dirty="0" sz="1800" spc="-35"/>
              <a:t> </a:t>
            </a:r>
            <a:r>
              <a:rPr dirty="0" sz="1800"/>
              <a:t>to</a:t>
            </a:r>
            <a:r>
              <a:rPr dirty="0" sz="1800" spc="-30"/>
              <a:t> </a:t>
            </a:r>
            <a:r>
              <a:rPr dirty="0" sz="1800"/>
              <a:t>help</a:t>
            </a:r>
            <a:r>
              <a:rPr dirty="0" sz="1800" spc="-35"/>
              <a:t> </a:t>
            </a:r>
            <a:r>
              <a:rPr dirty="0" sz="1800"/>
              <a:t>visually</a:t>
            </a:r>
            <a:r>
              <a:rPr dirty="0" sz="1800" spc="-45"/>
              <a:t> </a:t>
            </a:r>
            <a:r>
              <a:rPr dirty="0" sz="1800"/>
              <a:t>impaired</a:t>
            </a:r>
            <a:r>
              <a:rPr dirty="0" sz="1800" spc="-25"/>
              <a:t> </a:t>
            </a:r>
            <a:r>
              <a:rPr dirty="0" sz="1800"/>
              <a:t>individuals</a:t>
            </a:r>
            <a:r>
              <a:rPr dirty="0" sz="1800" spc="-40"/>
              <a:t> </a:t>
            </a:r>
            <a:r>
              <a:rPr dirty="0" sz="1800"/>
              <a:t>navigate</a:t>
            </a:r>
            <a:r>
              <a:rPr dirty="0" sz="1800" spc="-30"/>
              <a:t> </a:t>
            </a:r>
            <a:r>
              <a:rPr dirty="0" sz="1800"/>
              <a:t>safely</a:t>
            </a:r>
            <a:r>
              <a:rPr dirty="0" sz="1800" spc="-45"/>
              <a:t> </a:t>
            </a:r>
            <a:r>
              <a:rPr dirty="0" sz="1800"/>
              <a:t>using</a:t>
            </a:r>
            <a:r>
              <a:rPr dirty="0" sz="1800" spc="-35"/>
              <a:t> </a:t>
            </a:r>
            <a:r>
              <a:rPr dirty="0" sz="1800" spc="-10"/>
              <a:t>ultrasonic</a:t>
            </a:r>
            <a:endParaRPr sz="1800"/>
          </a:p>
          <a:p>
            <a:pPr marL="299085">
              <a:lnSpc>
                <a:spcPct val="100000"/>
              </a:lnSpc>
            </a:pPr>
            <a:r>
              <a:rPr dirty="0"/>
              <a:t>sensors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voice</a:t>
            </a:r>
            <a:r>
              <a:rPr dirty="0" spc="-10"/>
              <a:t> guidance.</a:t>
            </a:r>
          </a:p>
          <a:p>
            <a:pPr marL="299085" marR="8255" indent="-287020">
              <a:lnSpc>
                <a:spcPct val="100000"/>
              </a:lnSpc>
              <a:spcBef>
                <a:spcPts val="1035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/>
              <a:t>Ultrasonic</a:t>
            </a:r>
            <a:r>
              <a:rPr dirty="0" sz="1800" spc="-35"/>
              <a:t> </a:t>
            </a:r>
            <a:r>
              <a:rPr dirty="0" sz="1800"/>
              <a:t>sensors</a:t>
            </a:r>
            <a:r>
              <a:rPr dirty="0" sz="1800" spc="-35"/>
              <a:t> </a:t>
            </a:r>
            <a:r>
              <a:rPr dirty="0" sz="1800"/>
              <a:t>are</a:t>
            </a:r>
            <a:r>
              <a:rPr dirty="0" sz="1800" spc="-30"/>
              <a:t> </a:t>
            </a:r>
            <a:r>
              <a:rPr dirty="0" sz="1800"/>
              <a:t>placed</a:t>
            </a:r>
            <a:r>
              <a:rPr dirty="0" sz="1800" spc="-35"/>
              <a:t> </a:t>
            </a:r>
            <a:r>
              <a:rPr dirty="0" sz="1800"/>
              <a:t>at</a:t>
            </a:r>
            <a:r>
              <a:rPr dirty="0" sz="1800" spc="-30"/>
              <a:t> </a:t>
            </a:r>
            <a:r>
              <a:rPr dirty="0" sz="1800"/>
              <a:t>the</a:t>
            </a:r>
            <a:r>
              <a:rPr dirty="0" sz="1800" spc="-25"/>
              <a:t> </a:t>
            </a:r>
            <a:r>
              <a:rPr dirty="0" sz="1800"/>
              <a:t>front</a:t>
            </a:r>
            <a:r>
              <a:rPr dirty="0" sz="1800" spc="-35"/>
              <a:t> </a:t>
            </a:r>
            <a:r>
              <a:rPr dirty="0" sz="1800"/>
              <a:t>and</a:t>
            </a:r>
            <a:r>
              <a:rPr dirty="0" sz="1800" spc="-30"/>
              <a:t> </a:t>
            </a:r>
            <a:r>
              <a:rPr dirty="0" sz="1800"/>
              <a:t>sides</a:t>
            </a:r>
            <a:r>
              <a:rPr dirty="0" sz="1800" spc="-35"/>
              <a:t> </a:t>
            </a:r>
            <a:r>
              <a:rPr dirty="0" sz="1800"/>
              <a:t>of</a:t>
            </a:r>
            <a:r>
              <a:rPr dirty="0" sz="1800" spc="-25"/>
              <a:t> </a:t>
            </a:r>
            <a:r>
              <a:rPr dirty="0" sz="1800"/>
              <a:t>the</a:t>
            </a:r>
            <a:r>
              <a:rPr dirty="0" sz="1800" spc="-25"/>
              <a:t> </a:t>
            </a:r>
            <a:r>
              <a:rPr dirty="0" sz="1800"/>
              <a:t>shoe</a:t>
            </a:r>
            <a:r>
              <a:rPr dirty="0" sz="1800" spc="-30"/>
              <a:t> </a:t>
            </a:r>
            <a:r>
              <a:rPr dirty="0" sz="1800"/>
              <a:t>to</a:t>
            </a:r>
            <a:r>
              <a:rPr dirty="0" sz="1800" spc="-25"/>
              <a:t> </a:t>
            </a:r>
            <a:r>
              <a:rPr dirty="0" sz="1800"/>
              <a:t>detect</a:t>
            </a:r>
            <a:r>
              <a:rPr dirty="0" sz="1800" spc="-20"/>
              <a:t> </a:t>
            </a:r>
            <a:r>
              <a:rPr dirty="0" sz="1800"/>
              <a:t>obstacles</a:t>
            </a:r>
            <a:r>
              <a:rPr dirty="0" sz="1800" spc="-25"/>
              <a:t> </a:t>
            </a:r>
            <a:r>
              <a:rPr dirty="0" sz="1800"/>
              <a:t>within</a:t>
            </a:r>
            <a:r>
              <a:rPr dirty="0" sz="1800" spc="-25"/>
              <a:t> </a:t>
            </a:r>
            <a:r>
              <a:rPr dirty="0" sz="1800"/>
              <a:t>a</a:t>
            </a:r>
            <a:r>
              <a:rPr dirty="0" sz="1800" spc="-25"/>
              <a:t> </a:t>
            </a:r>
            <a:r>
              <a:rPr dirty="0" sz="1800" spc="-10"/>
              <a:t>specific range.</a:t>
            </a:r>
            <a:endParaRPr sz="1800"/>
          </a:p>
          <a:p>
            <a:pPr marL="299085" indent="-286385">
              <a:lnSpc>
                <a:spcPct val="100000"/>
              </a:lnSpc>
              <a:spcBef>
                <a:spcPts val="1030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/>
              <a:t>A</a:t>
            </a:r>
            <a:r>
              <a:rPr dirty="0" sz="1800" spc="-125"/>
              <a:t> </a:t>
            </a:r>
            <a:r>
              <a:rPr dirty="0" sz="1800"/>
              <a:t>microcontroller</a:t>
            </a:r>
            <a:r>
              <a:rPr dirty="0" sz="1800" spc="-65"/>
              <a:t> </a:t>
            </a:r>
            <a:r>
              <a:rPr dirty="0" sz="1800"/>
              <a:t>processes</a:t>
            </a:r>
            <a:r>
              <a:rPr dirty="0" sz="1800" spc="-55"/>
              <a:t> </a:t>
            </a:r>
            <a:r>
              <a:rPr dirty="0" sz="1800"/>
              <a:t>the</a:t>
            </a:r>
            <a:r>
              <a:rPr dirty="0" sz="1800" spc="-40"/>
              <a:t> </a:t>
            </a:r>
            <a:r>
              <a:rPr dirty="0" sz="1800"/>
              <a:t>sensor</a:t>
            </a:r>
            <a:r>
              <a:rPr dirty="0" sz="1800" spc="-45"/>
              <a:t> </a:t>
            </a:r>
            <a:r>
              <a:rPr dirty="0" sz="1800"/>
              <a:t>data</a:t>
            </a:r>
            <a:r>
              <a:rPr dirty="0" sz="1800" spc="-45"/>
              <a:t> </a:t>
            </a:r>
            <a:r>
              <a:rPr dirty="0" sz="1800"/>
              <a:t>and</a:t>
            </a:r>
            <a:r>
              <a:rPr dirty="0" sz="1800" spc="-45"/>
              <a:t> </a:t>
            </a:r>
            <a:r>
              <a:rPr dirty="0" sz="1800"/>
              <a:t>determines</a:t>
            </a:r>
            <a:r>
              <a:rPr dirty="0" sz="1800" spc="-55"/>
              <a:t> </a:t>
            </a:r>
            <a:r>
              <a:rPr dirty="0" sz="1800"/>
              <a:t>the</a:t>
            </a:r>
            <a:r>
              <a:rPr dirty="0" sz="1800" spc="-50"/>
              <a:t> </a:t>
            </a:r>
            <a:r>
              <a:rPr dirty="0" sz="1800"/>
              <a:t>distance</a:t>
            </a:r>
            <a:r>
              <a:rPr dirty="0" sz="1800" spc="-40"/>
              <a:t> </a:t>
            </a:r>
            <a:r>
              <a:rPr dirty="0" sz="1800"/>
              <a:t>of</a:t>
            </a:r>
            <a:r>
              <a:rPr dirty="0" sz="1800" spc="-55"/>
              <a:t> </a:t>
            </a:r>
            <a:r>
              <a:rPr dirty="0" sz="1800" spc="-10"/>
              <a:t>obstacles.</a:t>
            </a:r>
            <a:endParaRPr sz="1800"/>
          </a:p>
          <a:p>
            <a:pPr marL="299085" marR="5080" indent="-287020">
              <a:lnSpc>
                <a:spcPct val="100000"/>
              </a:lnSpc>
              <a:spcBef>
                <a:spcPts val="1019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/>
              <a:t>When</a:t>
            </a:r>
            <a:r>
              <a:rPr dirty="0" sz="1800" spc="-40"/>
              <a:t> </a:t>
            </a:r>
            <a:r>
              <a:rPr dirty="0" sz="1800"/>
              <a:t>an</a:t>
            </a:r>
            <a:r>
              <a:rPr dirty="0" sz="1800" spc="-25"/>
              <a:t> </a:t>
            </a:r>
            <a:r>
              <a:rPr dirty="0" sz="1800"/>
              <a:t>obstacle</a:t>
            </a:r>
            <a:r>
              <a:rPr dirty="0" sz="1800" spc="-20"/>
              <a:t> </a:t>
            </a:r>
            <a:r>
              <a:rPr dirty="0" sz="1800"/>
              <a:t>is</a:t>
            </a:r>
            <a:r>
              <a:rPr dirty="0" sz="1800" spc="-35"/>
              <a:t> </a:t>
            </a:r>
            <a:r>
              <a:rPr dirty="0" sz="1800"/>
              <a:t>detected,</a:t>
            </a:r>
            <a:r>
              <a:rPr dirty="0" sz="1800" spc="-30"/>
              <a:t> </a:t>
            </a:r>
            <a:r>
              <a:rPr dirty="0" sz="1800"/>
              <a:t>a</a:t>
            </a:r>
            <a:r>
              <a:rPr dirty="0" sz="1800" spc="-25"/>
              <a:t> </a:t>
            </a:r>
            <a:r>
              <a:rPr dirty="0" sz="1800"/>
              <a:t>voice</a:t>
            </a:r>
            <a:r>
              <a:rPr dirty="0" sz="1800" spc="-35"/>
              <a:t> </a:t>
            </a:r>
            <a:r>
              <a:rPr dirty="0" sz="1800"/>
              <a:t>module</a:t>
            </a:r>
            <a:r>
              <a:rPr dirty="0" sz="1800" spc="-30"/>
              <a:t> </a:t>
            </a:r>
            <a:r>
              <a:rPr dirty="0" sz="1800"/>
              <a:t>or</a:t>
            </a:r>
            <a:r>
              <a:rPr dirty="0" sz="1800" spc="-45"/>
              <a:t> </a:t>
            </a:r>
            <a:r>
              <a:rPr dirty="0" sz="1800" spc="-10"/>
              <a:t>Bluetooth-</a:t>
            </a:r>
            <a:r>
              <a:rPr dirty="0" sz="1800"/>
              <a:t>connected</a:t>
            </a:r>
            <a:r>
              <a:rPr dirty="0" sz="1800" spc="-35"/>
              <a:t> </a:t>
            </a:r>
            <a:r>
              <a:rPr dirty="0" sz="1800" spc="-10"/>
              <a:t>earphones</a:t>
            </a:r>
            <a:r>
              <a:rPr dirty="0" sz="1800" spc="-30"/>
              <a:t> </a:t>
            </a:r>
            <a:r>
              <a:rPr dirty="0" sz="1800"/>
              <a:t>provide</a:t>
            </a:r>
            <a:r>
              <a:rPr dirty="0" sz="1800" spc="-20"/>
              <a:t> </a:t>
            </a:r>
            <a:r>
              <a:rPr dirty="0" sz="1800" spc="-10"/>
              <a:t>real-</a:t>
            </a:r>
            <a:r>
              <a:rPr dirty="0" sz="1800" spc="-20"/>
              <a:t>time </a:t>
            </a:r>
            <a:r>
              <a:rPr dirty="0" sz="1800"/>
              <a:t>audio</a:t>
            </a:r>
            <a:r>
              <a:rPr dirty="0" sz="1800" spc="-40"/>
              <a:t> </a:t>
            </a:r>
            <a:r>
              <a:rPr dirty="0" sz="1800" spc="-10"/>
              <a:t>alerts.</a:t>
            </a:r>
            <a:endParaRPr sz="1800"/>
          </a:p>
          <a:p>
            <a:pPr marL="299085" indent="-286385">
              <a:lnSpc>
                <a:spcPct val="100000"/>
              </a:lnSpc>
              <a:spcBef>
                <a:spcPts val="1035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/>
              <a:t>The</a:t>
            </a:r>
            <a:r>
              <a:rPr dirty="0" sz="1800" spc="-35"/>
              <a:t> </a:t>
            </a:r>
            <a:r>
              <a:rPr dirty="0" sz="1800"/>
              <a:t>system</a:t>
            </a:r>
            <a:r>
              <a:rPr dirty="0" sz="1800" spc="-30"/>
              <a:t> </a:t>
            </a:r>
            <a:r>
              <a:rPr dirty="0" sz="1800"/>
              <a:t>is</a:t>
            </a:r>
            <a:r>
              <a:rPr dirty="0" sz="1800" spc="-45"/>
              <a:t> </a:t>
            </a:r>
            <a:r>
              <a:rPr dirty="0" sz="1800"/>
              <a:t>powered</a:t>
            </a:r>
            <a:r>
              <a:rPr dirty="0" sz="1800" spc="-30"/>
              <a:t> </a:t>
            </a:r>
            <a:r>
              <a:rPr dirty="0" sz="1800"/>
              <a:t>by</a:t>
            </a:r>
            <a:r>
              <a:rPr dirty="0" sz="1800" spc="-40"/>
              <a:t> </a:t>
            </a:r>
            <a:r>
              <a:rPr dirty="0" sz="1800"/>
              <a:t>a</a:t>
            </a:r>
            <a:r>
              <a:rPr dirty="0" sz="1800" spc="-30"/>
              <a:t> </a:t>
            </a:r>
            <a:r>
              <a:rPr dirty="0" sz="1800" spc="-10"/>
              <a:t>rechargeable</a:t>
            </a:r>
            <a:r>
              <a:rPr dirty="0" sz="1800" spc="-30"/>
              <a:t> </a:t>
            </a:r>
            <a:r>
              <a:rPr dirty="0" sz="1800"/>
              <a:t>battery</a:t>
            </a:r>
            <a:r>
              <a:rPr dirty="0" sz="1800" spc="-40"/>
              <a:t> </a:t>
            </a:r>
            <a:r>
              <a:rPr dirty="0" sz="1800"/>
              <a:t>to</a:t>
            </a:r>
            <a:r>
              <a:rPr dirty="0" sz="1800" spc="-35"/>
              <a:t> </a:t>
            </a:r>
            <a:r>
              <a:rPr dirty="0" sz="1800"/>
              <a:t>ensure</a:t>
            </a:r>
            <a:r>
              <a:rPr dirty="0" sz="1800" spc="-35"/>
              <a:t> </a:t>
            </a:r>
            <a:r>
              <a:rPr dirty="0" sz="1800"/>
              <a:t>continuous</a:t>
            </a:r>
            <a:r>
              <a:rPr dirty="0" sz="1800" spc="-35"/>
              <a:t> </a:t>
            </a:r>
            <a:r>
              <a:rPr dirty="0" sz="1800" spc="-10"/>
              <a:t>operation.</a:t>
            </a:r>
            <a:endParaRPr sz="1800"/>
          </a:p>
          <a:p>
            <a:pPr marL="299085" indent="-286385">
              <a:lnSpc>
                <a:spcPct val="100000"/>
              </a:lnSpc>
              <a:spcBef>
                <a:spcPts val="1030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/>
              <a:t>A</a:t>
            </a:r>
            <a:r>
              <a:rPr dirty="0" sz="1800" spc="-114"/>
              <a:t> </a:t>
            </a:r>
            <a:r>
              <a:rPr dirty="0" sz="1800"/>
              <a:t>prototype</a:t>
            </a:r>
            <a:r>
              <a:rPr dirty="0" sz="1800" spc="-25"/>
              <a:t> </a:t>
            </a:r>
            <a:r>
              <a:rPr dirty="0" sz="1800"/>
              <a:t>is</a:t>
            </a:r>
            <a:r>
              <a:rPr dirty="0" sz="1800" spc="-25"/>
              <a:t> </a:t>
            </a:r>
            <a:r>
              <a:rPr dirty="0" sz="1800"/>
              <a:t>developed</a:t>
            </a:r>
            <a:r>
              <a:rPr dirty="0" sz="1800" spc="-20"/>
              <a:t> </a:t>
            </a:r>
            <a:r>
              <a:rPr dirty="0" sz="1800"/>
              <a:t>and</a:t>
            </a:r>
            <a:r>
              <a:rPr dirty="0" sz="1800" spc="-25"/>
              <a:t> </a:t>
            </a:r>
            <a:r>
              <a:rPr dirty="0" sz="1800"/>
              <a:t>tested</a:t>
            </a:r>
            <a:r>
              <a:rPr dirty="0" sz="1800" spc="-30"/>
              <a:t> </a:t>
            </a:r>
            <a:r>
              <a:rPr dirty="0" sz="1800"/>
              <a:t>in</a:t>
            </a:r>
            <a:r>
              <a:rPr dirty="0" sz="1800" spc="-20"/>
              <a:t> </a:t>
            </a:r>
            <a:r>
              <a:rPr dirty="0" sz="1800" spc="-10"/>
              <a:t>real-</a:t>
            </a:r>
            <a:r>
              <a:rPr dirty="0" sz="1800"/>
              <a:t>world</a:t>
            </a:r>
            <a:r>
              <a:rPr dirty="0" sz="1800" spc="-30"/>
              <a:t> </a:t>
            </a:r>
            <a:r>
              <a:rPr dirty="0" sz="1800"/>
              <a:t>conditions</a:t>
            </a:r>
            <a:r>
              <a:rPr dirty="0" sz="1800" spc="-25"/>
              <a:t> </a:t>
            </a:r>
            <a:r>
              <a:rPr dirty="0" sz="1800"/>
              <a:t>to</a:t>
            </a:r>
            <a:r>
              <a:rPr dirty="0" sz="1800" spc="-30"/>
              <a:t> </a:t>
            </a:r>
            <a:r>
              <a:rPr dirty="0" sz="1800"/>
              <a:t>evaluate</a:t>
            </a:r>
            <a:r>
              <a:rPr dirty="0" sz="1800" spc="-25"/>
              <a:t> </a:t>
            </a:r>
            <a:r>
              <a:rPr dirty="0" sz="1800"/>
              <a:t>its</a:t>
            </a:r>
            <a:r>
              <a:rPr dirty="0" sz="1800" spc="-30"/>
              <a:t> </a:t>
            </a:r>
            <a:r>
              <a:rPr dirty="0" sz="1800" spc="-10"/>
              <a:t>effectiveness.</a:t>
            </a:r>
            <a:endParaRPr sz="1800"/>
          </a:p>
          <a:p>
            <a:pPr marL="299085" marR="80645" indent="-287020">
              <a:lnSpc>
                <a:spcPct val="100000"/>
              </a:lnSpc>
              <a:spcBef>
                <a:spcPts val="1035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/>
              <a:t>Feedback</a:t>
            </a:r>
            <a:r>
              <a:rPr dirty="0" sz="1800" spc="-55"/>
              <a:t> </a:t>
            </a:r>
            <a:r>
              <a:rPr dirty="0" sz="1800"/>
              <a:t>from</a:t>
            </a:r>
            <a:r>
              <a:rPr dirty="0" sz="1800" spc="-40"/>
              <a:t> </a:t>
            </a:r>
            <a:r>
              <a:rPr dirty="0" sz="1800"/>
              <a:t>visually</a:t>
            </a:r>
            <a:r>
              <a:rPr dirty="0" sz="1800" spc="-35"/>
              <a:t> </a:t>
            </a:r>
            <a:r>
              <a:rPr dirty="0" sz="1800"/>
              <a:t>impaired</a:t>
            </a:r>
            <a:r>
              <a:rPr dirty="0" sz="1800" spc="-50"/>
              <a:t> </a:t>
            </a:r>
            <a:r>
              <a:rPr dirty="0" sz="1800"/>
              <a:t>users</a:t>
            </a:r>
            <a:r>
              <a:rPr dirty="0" sz="1800" spc="-40"/>
              <a:t> </a:t>
            </a:r>
            <a:r>
              <a:rPr dirty="0" sz="1800"/>
              <a:t>is</a:t>
            </a:r>
            <a:r>
              <a:rPr dirty="0" sz="1800" spc="-40"/>
              <a:t> </a:t>
            </a:r>
            <a:r>
              <a:rPr dirty="0" sz="1800"/>
              <a:t>collected</a:t>
            </a:r>
            <a:r>
              <a:rPr dirty="0" sz="1800" spc="-35"/>
              <a:t> </a:t>
            </a:r>
            <a:r>
              <a:rPr dirty="0" sz="1800"/>
              <a:t>to</a:t>
            </a:r>
            <a:r>
              <a:rPr dirty="0" sz="1800" spc="-40"/>
              <a:t> </a:t>
            </a:r>
            <a:r>
              <a:rPr dirty="0" sz="1800"/>
              <a:t>optimize</a:t>
            </a:r>
            <a:r>
              <a:rPr dirty="0" sz="1800" spc="-40"/>
              <a:t> </a:t>
            </a:r>
            <a:r>
              <a:rPr dirty="0" sz="1800"/>
              <a:t>the</a:t>
            </a:r>
            <a:r>
              <a:rPr dirty="0" sz="1800" spc="-40"/>
              <a:t> </a:t>
            </a:r>
            <a:r>
              <a:rPr dirty="0" sz="1800"/>
              <a:t>system</a:t>
            </a:r>
            <a:r>
              <a:rPr dirty="0" sz="1800" spc="-30"/>
              <a:t> </a:t>
            </a:r>
            <a:r>
              <a:rPr dirty="0" sz="1800"/>
              <a:t>for</a:t>
            </a:r>
            <a:r>
              <a:rPr dirty="0" sz="1800" spc="-45"/>
              <a:t> </a:t>
            </a:r>
            <a:r>
              <a:rPr dirty="0" sz="1800"/>
              <a:t>better</a:t>
            </a:r>
            <a:r>
              <a:rPr dirty="0" sz="1800" spc="-30"/>
              <a:t> </a:t>
            </a:r>
            <a:r>
              <a:rPr dirty="0" sz="1800"/>
              <a:t>accuracy</a:t>
            </a:r>
            <a:r>
              <a:rPr dirty="0" sz="1800" spc="-45"/>
              <a:t> </a:t>
            </a:r>
            <a:r>
              <a:rPr dirty="0" sz="1800" spc="-25"/>
              <a:t>and </a:t>
            </a:r>
            <a:r>
              <a:rPr dirty="0" sz="1800" spc="-10"/>
              <a:t>usability.</a:t>
            </a:r>
            <a:endParaRPr sz="1800"/>
          </a:p>
          <a:p>
            <a:pPr marL="299085" marR="557530" indent="-287020">
              <a:lnSpc>
                <a:spcPct val="100000"/>
              </a:lnSpc>
              <a:spcBef>
                <a:spcPts val="1035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/>
              <a:t>Future</a:t>
            </a:r>
            <a:r>
              <a:rPr dirty="0" sz="1800" spc="-55"/>
              <a:t> </a:t>
            </a:r>
            <a:r>
              <a:rPr dirty="0" sz="1800"/>
              <a:t>improvements</a:t>
            </a:r>
            <a:r>
              <a:rPr dirty="0" sz="1800" spc="-45"/>
              <a:t> </a:t>
            </a:r>
            <a:r>
              <a:rPr dirty="0" sz="1800"/>
              <a:t>may</a:t>
            </a:r>
            <a:r>
              <a:rPr dirty="0" sz="1800" spc="-45"/>
              <a:t> </a:t>
            </a:r>
            <a:r>
              <a:rPr dirty="0" sz="1800"/>
              <a:t>include</a:t>
            </a:r>
            <a:r>
              <a:rPr dirty="0" sz="1800" spc="-45"/>
              <a:t> </a:t>
            </a:r>
            <a:r>
              <a:rPr dirty="0" sz="1800"/>
              <a:t>GPS</a:t>
            </a:r>
            <a:r>
              <a:rPr dirty="0" sz="1800" spc="-45"/>
              <a:t> </a:t>
            </a:r>
            <a:r>
              <a:rPr dirty="0" sz="1800"/>
              <a:t>integration</a:t>
            </a:r>
            <a:r>
              <a:rPr dirty="0" sz="1800" spc="-45"/>
              <a:t> </a:t>
            </a:r>
            <a:r>
              <a:rPr dirty="0" sz="1800"/>
              <a:t>for</a:t>
            </a:r>
            <a:r>
              <a:rPr dirty="0" sz="1800" spc="-40"/>
              <a:t> </a:t>
            </a:r>
            <a:r>
              <a:rPr dirty="0" sz="1800"/>
              <a:t>advanced</a:t>
            </a:r>
            <a:r>
              <a:rPr dirty="0" sz="1800" spc="-45"/>
              <a:t> </a:t>
            </a:r>
            <a:r>
              <a:rPr dirty="0" sz="1800"/>
              <a:t>navigation</a:t>
            </a:r>
            <a:r>
              <a:rPr dirty="0" sz="1800" spc="-45"/>
              <a:t> </a:t>
            </a:r>
            <a:r>
              <a:rPr dirty="0" sz="1800"/>
              <a:t>and</a:t>
            </a:r>
            <a:r>
              <a:rPr dirty="0" sz="1800" spc="-40"/>
              <a:t> </a:t>
            </a:r>
            <a:r>
              <a:rPr dirty="0" sz="1800" spc="-10"/>
              <a:t>smartphone </a:t>
            </a:r>
            <a:r>
              <a:rPr dirty="0" sz="1800"/>
              <a:t>connectivity</a:t>
            </a:r>
            <a:r>
              <a:rPr dirty="0" sz="1800" spc="-40"/>
              <a:t> </a:t>
            </a:r>
            <a:r>
              <a:rPr dirty="0" sz="1800"/>
              <a:t>for</a:t>
            </a:r>
            <a:r>
              <a:rPr dirty="0" sz="1800" spc="-65"/>
              <a:t> </a:t>
            </a:r>
            <a:r>
              <a:rPr dirty="0" sz="1800"/>
              <a:t>additional</a:t>
            </a:r>
            <a:r>
              <a:rPr dirty="0" sz="1800" spc="-45"/>
              <a:t> </a:t>
            </a:r>
            <a:r>
              <a:rPr dirty="0" sz="1800" spc="-10"/>
              <a:t>features.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4319" y="253695"/>
            <a:ext cx="381952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dirty="0" spc="-80"/>
              <a:t> </a:t>
            </a:r>
            <a:r>
              <a:rPr dirty="0" spc="-10"/>
              <a:t>and</a:t>
            </a:r>
            <a:r>
              <a:rPr dirty="0" spc="-140"/>
              <a:t> </a:t>
            </a:r>
            <a:r>
              <a:rPr dirty="0" spc="-10"/>
              <a:t>Applications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563369" y="826646"/>
            <a:ext cx="3669665" cy="4937760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2000" spc="-10" b="1">
                <a:latin typeface="Times New Roman"/>
                <a:cs typeface="Times New Roman"/>
              </a:rPr>
              <a:t>Advantages: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40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Enhanced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Mobility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30"/>
              </a:spcBef>
              <a:buClr>
                <a:srgbClr val="00AFEF"/>
              </a:buClr>
              <a:buFont typeface="Wingdings"/>
              <a:buChar char=""/>
              <a:tabLst>
                <a:tab pos="298450" algn="l"/>
              </a:tabLst>
            </a:pPr>
            <a:r>
              <a:rPr dirty="0" sz="1800" spc="-10">
                <a:latin typeface="Times New Roman"/>
                <a:cs typeface="Times New Roman"/>
              </a:rPr>
              <a:t>Hands-</a:t>
            </a:r>
            <a:r>
              <a:rPr dirty="0" sz="1800">
                <a:latin typeface="Times New Roman"/>
                <a:cs typeface="Times New Roman"/>
              </a:rPr>
              <a:t>Free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Operation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35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 spc="-25">
                <a:latin typeface="Times New Roman"/>
                <a:cs typeface="Times New Roman"/>
              </a:rPr>
              <a:t>RealTime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Alerts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35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Lightweight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Comfortable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30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 spc="-20">
                <a:latin typeface="Times New Roman"/>
                <a:cs typeface="Times New Roman"/>
              </a:rPr>
              <a:t>User-</a:t>
            </a:r>
            <a:r>
              <a:rPr dirty="0" sz="1800" spc="-10">
                <a:latin typeface="Times New Roman"/>
                <a:cs typeface="Times New Roman"/>
              </a:rPr>
              <a:t>Friendly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800" spc="-10" b="1">
                <a:latin typeface="Times New Roman"/>
                <a:cs typeface="Times New Roman"/>
              </a:rPr>
              <a:t>Applications: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35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Daily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Navigation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30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Public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Transport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Assistance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35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Educational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Institutions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35"/>
              </a:spcBef>
              <a:buClr>
                <a:srgbClr val="00AFEF"/>
              </a:buClr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Hospitals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Rehabilitation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Centers</a:t>
            </a:r>
            <a:endParaRPr sz="18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030"/>
              </a:spcBef>
              <a:buClr>
                <a:srgbClr val="00AFEF"/>
              </a:buClr>
              <a:buFont typeface="Wingdings"/>
              <a:buChar char=""/>
              <a:tabLst>
                <a:tab pos="356870" algn="l"/>
              </a:tabLst>
            </a:pPr>
            <a:r>
              <a:rPr dirty="0" sz="1800">
                <a:latin typeface="Times New Roman"/>
                <a:cs typeface="Times New Roman"/>
              </a:rPr>
              <a:t>Smart Cities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and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Accessibility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17134" y="386283"/>
            <a:ext cx="295211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EXPECTED</a:t>
            </a:r>
            <a:r>
              <a:rPr dirty="0" spc="-80"/>
              <a:t> </a:t>
            </a:r>
            <a:r>
              <a:rPr dirty="0" spc="-25"/>
              <a:t>RESULT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7744" y="1307591"/>
            <a:ext cx="5301996" cy="38252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1622" y="3058490"/>
            <a:ext cx="27628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Thank</a:t>
            </a:r>
            <a:r>
              <a:rPr dirty="0" sz="4000" spc="-150"/>
              <a:t> </a:t>
            </a:r>
            <a:r>
              <a:rPr dirty="0" sz="4000" spc="-10"/>
              <a:t>you...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srija13</dc:creator>
  <dcterms:created xsi:type="dcterms:W3CDTF">2025-04-11T06:33:16Z</dcterms:created>
  <dcterms:modified xsi:type="dcterms:W3CDTF">2025-04-11T06:33:16Z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2025-03-21T00:00:00Z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2025-04-11T00:00:00Z</vt:filetime>
  </property>
  <property fmtid="{D5CDD505-2E9C-101B-9397-08002B2CF9AE}" pid="5" name="Producer">
    <vt:lpwstr>Microsoft® Word 2021</vt:lpwstr>
  </property>
</Properties>
</file>