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5" r:id="rId5"/>
    <p:sldId id="258" r:id="rId6"/>
    <p:sldId id="266" r:id="rId7"/>
    <p:sldId id="267" r:id="rId8"/>
    <p:sldId id="259" r:id="rId9"/>
    <p:sldId id="260" r:id="rId10"/>
    <p:sldId id="261" r:id="rId11"/>
    <p:sldId id="262" r:id="rId12"/>
    <p:sldId id="263"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8" d="100"/>
          <a:sy n="88" d="100"/>
        </p:scale>
        <p:origin x="5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hyperlink" Target="mailto:deanacademics@tkrec.ac.in" TargetMode="Externa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678257" y="2030297"/>
            <a:ext cx="10104977" cy="656126"/>
          </a:xfrm>
        </p:spPr>
        <p:txBody>
          <a:bodyPr>
            <a:normAutofit/>
          </a:bodyPr>
          <a:lstStyle/>
          <a:p>
            <a:r>
              <a:rPr lang="en-US" sz="2000" b="1" dirty="0">
                <a:latin typeface="Times New Roman" panose="02020603050405020304"/>
                <a:cs typeface="Times New Roman" panose="02020603050405020304"/>
              </a:rPr>
              <a:t>BATCH NO:06</a:t>
            </a:r>
            <a:endParaRPr lang="en-US" sz="2000" b="1" dirty="0">
              <a:latin typeface="Times New Roman" panose="02020603050405020304"/>
              <a:cs typeface="Times New Roman" panose="02020603050405020304"/>
            </a:endParaRPr>
          </a:p>
        </p:txBody>
      </p:sp>
      <p:sp>
        <p:nvSpPr>
          <p:cNvPr id="3" name="Subtitle 2"/>
          <p:cNvSpPr>
            <a:spLocks noGrp="1"/>
          </p:cNvSpPr>
          <p:nvPr>
            <p:ph type="subTitle" idx="4294967295"/>
          </p:nvPr>
        </p:nvSpPr>
        <p:spPr>
          <a:xfrm>
            <a:off x="8036903" y="4484200"/>
            <a:ext cx="4594713" cy="1730986"/>
          </a:xfrm>
        </p:spPr>
        <p:txBody>
          <a:bodyPr>
            <a:normAutofit/>
          </a:bodyPr>
          <a:lstStyle/>
          <a:p>
            <a:pPr marL="0" indent="0">
              <a:buNone/>
            </a:pPr>
            <a:r>
              <a:rPr lang="en-US" sz="1600" dirty="0">
                <a:solidFill>
                  <a:schemeClr val="accent5"/>
                </a:solidFill>
                <a:latin typeface="Times New Roman" panose="02020603050405020304"/>
                <a:ea typeface="+mn-lt"/>
                <a:cs typeface="Times New Roman" panose="02020603050405020304"/>
              </a:rPr>
              <a:t>22R91A04F4:M.NANDINI</a:t>
            </a:r>
            <a:endParaRPr lang="en-US" sz="1600" dirty="0">
              <a:solidFill>
                <a:schemeClr val="accent5"/>
              </a:solidFill>
              <a:latin typeface="Times New Roman" panose="02020603050405020304"/>
              <a:ea typeface="+mn-lt"/>
              <a:cs typeface="Times New Roman" panose="02020603050405020304"/>
            </a:endParaRPr>
          </a:p>
          <a:p>
            <a:pPr marL="0" indent="0">
              <a:buNone/>
            </a:pPr>
            <a:r>
              <a:rPr lang="en-US" sz="1600" dirty="0">
                <a:solidFill>
                  <a:schemeClr val="accent5"/>
                </a:solidFill>
                <a:latin typeface="Times New Roman" panose="02020603050405020304"/>
                <a:ea typeface="+mn-lt"/>
                <a:cs typeface="Times New Roman" panose="02020603050405020304"/>
              </a:rPr>
              <a:t>22R91A04K2:P.SURESH</a:t>
            </a:r>
            <a:endParaRPr lang="en-US" sz="1600" dirty="0">
              <a:solidFill>
                <a:schemeClr val="accent5"/>
              </a:solidFill>
              <a:latin typeface="Times New Roman" panose="02020603050405020304"/>
              <a:ea typeface="+mn-lt"/>
              <a:cs typeface="Times New Roman" panose="02020603050405020304"/>
            </a:endParaRPr>
          </a:p>
          <a:p>
            <a:pPr marL="0" indent="0">
              <a:buNone/>
            </a:pPr>
            <a:r>
              <a:rPr lang="en-US" sz="1600" dirty="0">
                <a:solidFill>
                  <a:schemeClr val="accent5"/>
                </a:solidFill>
                <a:latin typeface="Times New Roman" panose="02020603050405020304"/>
                <a:ea typeface="+mn-lt"/>
                <a:cs typeface="Times New Roman" panose="02020603050405020304"/>
              </a:rPr>
              <a:t>22R91A04H8:P.THARUN</a:t>
            </a:r>
            <a:endParaRPr lang="en-US" sz="1600" dirty="0">
              <a:solidFill>
                <a:schemeClr val="accent5"/>
              </a:solidFill>
              <a:latin typeface="Times New Roman" panose="02020603050405020304"/>
              <a:ea typeface="+mn-lt"/>
              <a:cs typeface="Times New Roman" panose="02020603050405020304"/>
            </a:endParaRPr>
          </a:p>
          <a:p>
            <a:pPr marL="0" indent="0">
              <a:buNone/>
            </a:pPr>
            <a:r>
              <a:rPr lang="en-US" sz="1600" dirty="0">
                <a:solidFill>
                  <a:schemeClr val="accent5"/>
                </a:solidFill>
                <a:latin typeface="Times New Roman" panose="02020603050405020304"/>
                <a:ea typeface="+mn-lt"/>
                <a:cs typeface="Times New Roman" panose="02020603050405020304"/>
              </a:rPr>
              <a:t>22R91A04J7:P.NAVEEN</a:t>
            </a:r>
            <a:endParaRPr lang="en-US" sz="1600" dirty="0">
              <a:solidFill>
                <a:schemeClr val="accent5"/>
              </a:solidFill>
              <a:latin typeface="Times New Roman" panose="02020603050405020304"/>
              <a:ea typeface="+mn-lt"/>
              <a:cs typeface="Times New Roman" panose="02020603050405020304"/>
            </a:endParaRPr>
          </a:p>
        </p:txBody>
      </p:sp>
      <p:pic>
        <p:nvPicPr>
          <p:cNvPr id="4" name="Picture 8"/>
          <p:cNvPicPr>
            <a:picLocks noChangeAspect="1"/>
          </p:cNvPicPr>
          <p:nvPr/>
        </p:nvPicPr>
        <p:blipFill>
          <a:blip r:embed="rId1"/>
          <a:stretch>
            <a:fillRect/>
          </a:stretch>
        </p:blipFill>
        <p:spPr>
          <a:xfrm>
            <a:off x="1545636" y="170528"/>
            <a:ext cx="1313821" cy="1440709"/>
          </a:xfrm>
          <a:prstGeom prst="rect">
            <a:avLst/>
          </a:prstGeom>
        </p:spPr>
      </p:pic>
      <p:pic>
        <p:nvPicPr>
          <p:cNvPr id="7" name="Picture 10"/>
          <p:cNvPicPr>
            <a:picLocks noChangeAspect="1"/>
          </p:cNvPicPr>
          <p:nvPr/>
        </p:nvPicPr>
        <p:blipFill>
          <a:blip r:embed="rId2"/>
          <a:stretch>
            <a:fillRect/>
          </a:stretch>
        </p:blipFill>
        <p:spPr>
          <a:xfrm>
            <a:off x="9939603" y="216223"/>
            <a:ext cx="1802198" cy="1411402"/>
          </a:xfrm>
          <a:prstGeom prst="rect">
            <a:avLst/>
          </a:prstGeom>
        </p:spPr>
      </p:pic>
      <p:sp>
        <p:nvSpPr>
          <p:cNvPr id="16" name="TextBox 15"/>
          <p:cNvSpPr txBox="1"/>
          <p:nvPr/>
        </p:nvSpPr>
        <p:spPr>
          <a:xfrm>
            <a:off x="8658131" y="4164748"/>
            <a:ext cx="2510692" cy="646331"/>
          </a:xfrm>
          <a:prstGeom prst="rect">
            <a:avLst/>
          </a:prstGeom>
          <a:noFill/>
        </p:spPr>
        <p:txBody>
          <a:bodyPr wrap="square" lIns="91440" tIns="45720" rIns="91440" bIns="45720" anchor="t">
            <a:spAutoFit/>
          </a:bodyPr>
          <a:lstStyle/>
          <a:p>
            <a:pPr algn="r"/>
            <a:r>
              <a:rPr lang="en-US" sz="1800" b="1" u="sng" dirty="0">
                <a:solidFill>
                  <a:schemeClr val="accent6"/>
                </a:solidFill>
                <a:latin typeface="Times New Roman" panose="02020603050405020304"/>
                <a:cs typeface="Times New Roman" panose="02020603050405020304"/>
              </a:rPr>
              <a:t>TEAM MEMBERS :-</a:t>
            </a:r>
            <a:endParaRPr lang="en-US" dirty="0">
              <a:solidFill>
                <a:schemeClr val="accent6"/>
              </a:solidFill>
            </a:endParaRPr>
          </a:p>
          <a:p>
            <a:pPr algn="r"/>
            <a:endParaRPr lang="en-US" b="1" u="sng" dirty="0">
              <a:solidFill>
                <a:schemeClr val="accent6"/>
              </a:solidFill>
              <a:latin typeface="Times New Roman" panose="02020603050405020304"/>
              <a:cs typeface="Times New Roman" panose="02020603050405020304"/>
            </a:endParaRPr>
          </a:p>
        </p:txBody>
      </p:sp>
      <p:sp>
        <p:nvSpPr>
          <p:cNvPr id="26" name="TextBox 25"/>
          <p:cNvSpPr txBox="1"/>
          <p:nvPr/>
        </p:nvSpPr>
        <p:spPr>
          <a:xfrm>
            <a:off x="415766" y="5097797"/>
            <a:ext cx="4602497" cy="923330"/>
          </a:xfrm>
          <a:prstGeom prst="rect">
            <a:avLst/>
          </a:prstGeom>
          <a:noFill/>
        </p:spPr>
        <p:txBody>
          <a:bodyPr wrap="square">
            <a:spAutoFit/>
          </a:bodyPr>
          <a:lstStyle/>
          <a:p>
            <a:pPr algn="ctr"/>
            <a:r>
              <a:rPr lang="en-US" b="1" dirty="0">
                <a:solidFill>
                  <a:srgbClr val="7030A0"/>
                </a:solidFill>
                <a:latin typeface="Times New Roman" panose="02020603050405020304" pitchFamily="18" charset="0"/>
                <a:cs typeface="Times New Roman" panose="02020603050405020304" pitchFamily="18" charset="0"/>
              </a:rPr>
              <a:t>GUIDED  BY:-</a:t>
            </a:r>
            <a:endParaRPr lang="en-US" b="1" dirty="0">
              <a:solidFill>
                <a:srgbClr val="7030A0"/>
              </a:solidFill>
              <a:latin typeface="Times New Roman" panose="02020603050405020304" pitchFamily="18" charset="0"/>
              <a:cs typeface="Times New Roman" panose="02020603050405020304" pitchFamily="18" charset="0"/>
            </a:endParaRPr>
          </a:p>
          <a:p>
            <a:pPr algn="ctr"/>
            <a:r>
              <a:rPr lang="en-IN" b="1" dirty="0">
                <a:solidFill>
                  <a:schemeClr val="accent5"/>
                </a:solidFill>
              </a:rPr>
              <a:t>Mrs. S. PRATHYUSHA</a:t>
            </a:r>
            <a:endParaRPr lang="en-US" b="1" dirty="0">
              <a:solidFill>
                <a:schemeClr val="accent5"/>
              </a:solidFill>
              <a:latin typeface="Times New Roman" panose="02020603050405020304" pitchFamily="18" charset="0"/>
              <a:cs typeface="Times New Roman" panose="02020603050405020304" pitchFamily="18" charset="0"/>
            </a:endParaRPr>
          </a:p>
          <a:p>
            <a:pPr algn="ctr"/>
            <a:r>
              <a:rPr lang="en-US" b="1" dirty="0">
                <a:solidFill>
                  <a:schemeClr val="accent5"/>
                </a:solidFill>
                <a:latin typeface="Times New Roman" panose="02020603050405020304" pitchFamily="18" charset="0"/>
                <a:cs typeface="Times New Roman" panose="02020603050405020304" pitchFamily="18" charset="0"/>
              </a:rPr>
              <a:t>(ASSISSTANT PROFESSOR)</a:t>
            </a:r>
            <a:endParaRPr lang="en-IN" b="1" dirty="0">
              <a:solidFill>
                <a:schemeClr val="accent5"/>
              </a:solidFill>
            </a:endParaRPr>
          </a:p>
        </p:txBody>
      </p:sp>
      <p:sp>
        <p:nvSpPr>
          <p:cNvPr id="9" name="TextBox 8"/>
          <p:cNvSpPr txBox="1"/>
          <p:nvPr/>
        </p:nvSpPr>
        <p:spPr>
          <a:xfrm>
            <a:off x="1985109" y="145484"/>
            <a:ext cx="10206891"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dirty="0">
                <a:solidFill>
                  <a:srgbClr val="FF0000"/>
                </a:solidFill>
              </a:rPr>
              <a:t>              TEEGALA KRISHNA REDDY ENGINEERING COLLEGE</a:t>
            </a:r>
            <a:endParaRPr lang="en-US" sz="2400" dirty="0">
              <a:solidFill>
                <a:srgbClr val="FF0000"/>
              </a:solidFill>
            </a:endParaRPr>
          </a:p>
          <a:p>
            <a:pPr algn="ctr"/>
            <a:r>
              <a:rPr lang="en-US" sz="2000" dirty="0">
                <a:solidFill>
                  <a:srgbClr val="7F7F7F"/>
                </a:solidFill>
              </a:rPr>
              <a:t>(UGC-Autonomous)</a:t>
            </a:r>
            <a:endParaRPr lang="en-US" sz="2000" dirty="0">
              <a:solidFill>
                <a:srgbClr val="7F7F7F"/>
              </a:solidFill>
            </a:endParaRPr>
          </a:p>
          <a:p>
            <a:pPr algn="ctr"/>
            <a:r>
              <a:rPr lang="en-US" sz="1400" dirty="0"/>
              <a:t>Approved by AICTE, Affiliated by JNTUH, Accredited by NAAC- ‘A’ Grade</a:t>
            </a:r>
            <a:endParaRPr lang="en-US" sz="1400" dirty="0"/>
          </a:p>
          <a:p>
            <a:pPr algn="ctr"/>
            <a:r>
              <a:rPr lang="en-US" sz="1400" dirty="0" err="1"/>
              <a:t>Medbowli</a:t>
            </a:r>
            <a:r>
              <a:rPr lang="en-US" sz="1400" dirty="0"/>
              <a:t> , </a:t>
            </a:r>
            <a:r>
              <a:rPr lang="en-US" sz="1400" dirty="0" err="1"/>
              <a:t>Meerpet</a:t>
            </a:r>
            <a:r>
              <a:rPr lang="en-US" sz="1400" dirty="0"/>
              <a:t>  ,  </a:t>
            </a:r>
            <a:r>
              <a:rPr lang="en-US" sz="1400" dirty="0" err="1"/>
              <a:t>Balapur</a:t>
            </a:r>
            <a:r>
              <a:rPr lang="en-US" sz="1400" dirty="0"/>
              <a:t> ,Hyderabad, Telangana- 500097</a:t>
            </a:r>
            <a:endParaRPr lang="en-US" sz="1400" dirty="0"/>
          </a:p>
          <a:p>
            <a:pPr algn="ctr"/>
            <a:r>
              <a:rPr lang="en-US" sz="1400" dirty="0"/>
              <a:t>Mob: 9393959597. Email: info@tkrec.ac.in, </a:t>
            </a:r>
            <a:r>
              <a:rPr lang="en-US" sz="1400" dirty="0">
                <a:hlinkClick r:id="rId3"/>
              </a:rPr>
              <a:t>deanacademics@tkrec.ac.in</a:t>
            </a:r>
            <a:endParaRPr lang="en-US" sz="1400" dirty="0"/>
          </a:p>
          <a:p>
            <a:pPr algn="ctr"/>
            <a:endParaRPr lang="en-US" dirty="0"/>
          </a:p>
          <a:p>
            <a:r>
              <a:rPr lang="en-US" dirty="0"/>
              <a:t>                 </a:t>
            </a:r>
            <a:r>
              <a:rPr lang="en-US" b="1" dirty="0"/>
              <a:t>DEPARTMENT OF ELECTRONICS AND COMMUNICATION </a:t>
            </a:r>
            <a:r>
              <a:rPr lang="en-US" b="1" dirty="0">
                <a:latin typeface="Times New Roman" panose="02020603050405020304"/>
                <a:cs typeface="Times New Roman" panose="02020603050405020304"/>
              </a:rPr>
              <a:t>ENGINEERING   </a:t>
            </a:r>
            <a:endParaRPr lang="en-US" b="1" dirty="0">
              <a:latin typeface="Times New Roman" panose="02020603050405020304"/>
              <a:cs typeface="Times New Roman" panose="02020603050405020304"/>
            </a:endParaRPr>
          </a:p>
        </p:txBody>
      </p:sp>
      <p:sp>
        <p:nvSpPr>
          <p:cNvPr id="11" name="TextBox 10"/>
          <p:cNvSpPr txBox="1"/>
          <p:nvPr/>
        </p:nvSpPr>
        <p:spPr>
          <a:xfrm>
            <a:off x="1842478" y="2751014"/>
            <a:ext cx="77195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solidFill>
                  <a:srgbClr val="7030A0"/>
                </a:solidFill>
                <a:latin typeface="Times New Roman" panose="02020603050405020304"/>
                <a:cs typeface="Times New Roman" panose="02020603050405020304"/>
              </a:rPr>
              <a:t>IOT BASED SMART SHOE FOR THE BLIND PEOPLE</a:t>
            </a:r>
            <a:endParaRPr lang="en-US" sz="2400" b="1" dirty="0">
              <a:solidFill>
                <a:srgbClr val="7030A0"/>
              </a:solidFill>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6345" y="1076738"/>
            <a:ext cx="10018713" cy="3124201"/>
          </a:xfrm>
        </p:spPr>
        <p:txBody>
          <a:bodyPr/>
          <a:lstStyle/>
          <a:p>
            <a:pPr marL="0" indent="0">
              <a:spcAft>
                <a:spcPts val="0"/>
              </a:spcAft>
              <a:buNone/>
            </a:pPr>
            <a:r>
              <a:rPr lang="en-US" sz="2000" dirty="0">
                <a:latin typeface="Times New Roman" panose="02020603050405020304" pitchFamily="18" charset="0"/>
                <a:cs typeface="Times New Roman" panose="02020603050405020304" pitchFamily="18" charset="0"/>
              </a:rPr>
              <a:t>1. OBJECTIVE</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2.ABSTRACT</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3.BLOCK DIAGRAM</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4.METHODOLOGY</a:t>
            </a:r>
            <a:endParaRPr 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5.</a:t>
            </a:r>
            <a:r>
              <a:rPr lang="en-US" altLang="en-IN" sz="2000" dirty="0">
                <a:latin typeface="Times New Roman" panose="02020603050405020304" pitchFamily="18" charset="0"/>
                <a:cs typeface="Times New Roman" panose="02020603050405020304" pitchFamily="18" charset="0"/>
              </a:rPr>
              <a:t>ADVANTAGES AND APPLICATIONS </a:t>
            </a:r>
            <a:endParaRPr lang="zh-CN" altLang="en-US" sz="2000" dirty="0">
              <a:latin typeface="Times New Roman" panose="02020603050405020304" pitchFamily="18" charset="0"/>
              <a:cs typeface="Times New Roman" panose="02020603050405020304" pitchFamily="18" charset="0"/>
            </a:endParaRPr>
          </a:p>
          <a:p>
            <a:pPr marL="0" indent="0">
              <a:spcAft>
                <a:spcPts val="0"/>
              </a:spcAft>
              <a:buNone/>
            </a:pPr>
            <a:r>
              <a:rPr lang="en-US" sz="2000" dirty="0">
                <a:latin typeface="Times New Roman" panose="02020603050405020304" pitchFamily="18" charset="0"/>
                <a:cs typeface="Times New Roman" panose="02020603050405020304" pitchFamily="18" charset="0"/>
              </a:rPr>
              <a:t>6.</a:t>
            </a:r>
            <a:r>
              <a:rPr lang="en-US" altLang="en-IN" sz="2000" dirty="0">
                <a:latin typeface="Times New Roman" panose="02020603050405020304" pitchFamily="18" charset="0"/>
                <a:cs typeface="Times New Roman" panose="02020603050405020304" pitchFamily="18" charset="0"/>
              </a:rPr>
              <a:t>EXPECTED RESULT</a:t>
            </a:r>
            <a:endParaRPr lang="zh-CN" altLang="en-US" sz="2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p:cNvSpPr txBox="1"/>
          <p:nvPr/>
        </p:nvSpPr>
        <p:spPr>
          <a:xfrm>
            <a:off x="2033229" y="299551"/>
            <a:ext cx="9104277" cy="461665"/>
          </a:xfrm>
          <a:prstGeom prst="rect">
            <a:avLst/>
          </a:prstGeom>
          <a:noFill/>
        </p:spPr>
        <p:txBody>
          <a:bodyPr wrap="square">
            <a:spAutoFit/>
          </a:bodyPr>
          <a:lstStyle/>
          <a:p>
            <a:pPr algn="ctr"/>
            <a:r>
              <a:rPr lang="en-GB" sz="2400" b="1" dirty="0">
                <a:solidFill>
                  <a:srgbClr val="FF0000"/>
                </a:solidFill>
                <a:latin typeface="Times New Roman" panose="02020603050405020304" pitchFamily="18" charset="0"/>
                <a:cs typeface="Times New Roman" panose="02020603050405020304" pitchFamily="18" charset="0"/>
              </a:rPr>
              <a:t>Table of Contents</a:t>
            </a:r>
            <a:endParaRPr lang="en-IN" sz="24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106680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OBJECTIVES</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52090" y="184558"/>
            <a:ext cx="10250490" cy="5384800"/>
          </a:xfrm>
        </p:spPr>
        <p:txBody>
          <a:bodyPr>
            <a:normAutofit/>
          </a:bodyPr>
          <a:lstStyle/>
          <a:p>
            <a:pPr marL="0" indent="0" algn="just">
              <a:buNone/>
            </a:pPr>
            <a:r>
              <a:rPr lang="en-IN" sz="1800" kern="100" dirty="0">
                <a:solidFill>
                  <a:srgbClr val="000000"/>
                </a:solidFill>
                <a:effectLst/>
                <a:latin typeface="Times New Roman" panose="02020603050405020304" pitchFamily="18" charset="0"/>
                <a:ea typeface="Times New Roman" panose="02020603050405020304" pitchFamily="18" charset="0"/>
              </a:rPr>
              <a:t>The goal of this initiative is to create an Electronic Traveling Aid (ETA) kit that will assist blind people in navigating clear paths. The shoe is set to this ETA.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This system includes a buzzer, an ultrasonic sensor, and a microcontroller and is designed to provide overall measures for object recognition, human detection, and real-time assistance. </a:t>
            </a:r>
            <a:endPar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this case, a user-alerting ultrasonic monitor was used to measure the distance between the user and the obstruction</a:t>
            </a:r>
            <a:r>
              <a:rPr lang="en-US"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sym typeface="+mn-ea"/>
              </a:rPr>
              <a:t>Existing System</a:t>
            </a:r>
            <a:endParaRPr lang="en-GB" altLang="en-US"/>
          </a:p>
        </p:txBody>
      </p:sp>
      <p:sp>
        <p:nvSpPr>
          <p:cNvPr id="3" name="Content Placeholder 2"/>
          <p:cNvSpPr>
            <a:spLocks noGrp="1"/>
          </p:cNvSpPr>
          <p:nvPr>
            <p:ph idx="1"/>
          </p:nvPr>
        </p:nvSpPr>
        <p:spPr>
          <a:xfrm>
            <a:off x="1483995" y="2108200"/>
            <a:ext cx="10019030" cy="3683000"/>
          </a:xfrm>
        </p:spPr>
        <p:txBody>
          <a:bodyPr/>
          <a:p>
            <a:r>
              <a:rPr sz="1800" dirty="0">
                <a:latin typeface="Times New Roman" panose="02020603050405020304" pitchFamily="18" charset="0"/>
                <a:cs typeface="Times New Roman" panose="02020603050405020304" pitchFamily="18" charset="0"/>
                <a:sym typeface="+mn-ea"/>
              </a:rPr>
              <a:t> Traditional aids include white canes and guide dogs.</a:t>
            </a:r>
            <a:endParaRPr sz="1800" dirty="0">
              <a:latin typeface="Times New Roman" panose="02020603050405020304" pitchFamily="18" charset="0"/>
              <a:cs typeface="Times New Roman" panose="02020603050405020304" pitchFamily="18" charset="0"/>
              <a:sym typeface="+mn-ea"/>
            </a:endParaRPr>
          </a:p>
          <a:p>
            <a:r>
              <a:rPr sz="1800" dirty="0">
                <a:latin typeface="Times New Roman" panose="02020603050405020304" pitchFamily="18" charset="0"/>
                <a:cs typeface="Times New Roman" panose="02020603050405020304" pitchFamily="18" charset="0"/>
                <a:sym typeface="+mn-ea"/>
              </a:rPr>
              <a:t> Limited range and no real-time voice feedback.</a:t>
            </a:r>
            <a:endParaRPr sz="1800" dirty="0">
              <a:latin typeface="Times New Roman" panose="02020603050405020304" pitchFamily="18" charset="0"/>
              <a:cs typeface="Times New Roman" panose="02020603050405020304" pitchFamily="18" charset="0"/>
              <a:sym typeface="+mn-ea"/>
            </a:endParaRPr>
          </a:p>
          <a:p>
            <a:r>
              <a:rPr sz="1800" dirty="0">
                <a:latin typeface="Times New Roman" panose="02020603050405020304" pitchFamily="18" charset="0"/>
                <a:cs typeface="Times New Roman" panose="02020603050405020304" pitchFamily="18" charset="0"/>
                <a:sym typeface="+mn-ea"/>
              </a:rPr>
              <a:t> Devices like smart glasses are expensive and not always comfortable.</a:t>
            </a:r>
            <a:endParaRPr sz="1800" dirty="0">
              <a:latin typeface="Times New Roman" panose="02020603050405020304" pitchFamily="18" charset="0"/>
              <a:cs typeface="Times New Roman" panose="02020603050405020304" pitchFamily="18" charset="0"/>
              <a:sym typeface="+mn-ea"/>
            </a:endParaRPr>
          </a:p>
          <a:p>
            <a:r>
              <a:rPr sz="1800" dirty="0">
                <a:latin typeface="Times New Roman" panose="02020603050405020304" pitchFamily="18" charset="0"/>
                <a:cs typeface="Times New Roman" panose="02020603050405020304" pitchFamily="18" charset="0"/>
                <a:sym typeface="+mn-ea"/>
              </a:rPr>
              <a:t> Most existing systems lack multi-directional obstacle detection.</a:t>
            </a:r>
            <a:endParaRPr sz="1800" dirty="0">
              <a:latin typeface="Times New Roman" panose="02020603050405020304" pitchFamily="18" charset="0"/>
              <a:cs typeface="Times New Roman" panose="02020603050405020304" pitchFamily="18" charset="0"/>
              <a:sym typeface="+mn-ea"/>
            </a:endParaRPr>
          </a:p>
          <a:p>
            <a:endParaRPr lang="en-GB"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sym typeface="+mn-ea"/>
              </a:rPr>
              <a:t>Problem Identification</a:t>
            </a:r>
            <a:endParaRPr lang="en-GB" altLang="en-US"/>
          </a:p>
        </p:txBody>
      </p:sp>
      <p:sp>
        <p:nvSpPr>
          <p:cNvPr id="3" name="Content Placeholder 2"/>
          <p:cNvSpPr>
            <a:spLocks noGrp="1"/>
          </p:cNvSpPr>
          <p:nvPr>
            <p:ph idx="1"/>
          </p:nvPr>
        </p:nvSpPr>
        <p:spPr/>
        <p:txBody>
          <a:bodyPr/>
          <a:p>
            <a:pPr marL="0" indent="0">
              <a:buNone/>
            </a:pPr>
            <a:r>
              <a:rPr lang="en-US" dirty="0">
                <a:sym typeface="+mn-ea"/>
              </a:rPr>
              <a:t>•</a:t>
            </a:r>
            <a:r>
              <a:rPr lang="en-US" sz="1600" dirty="0">
                <a:latin typeface="Times New Roman" panose="02020603050405020304" pitchFamily="18" charset="0"/>
                <a:cs typeface="Times New Roman" panose="02020603050405020304" pitchFamily="18" charset="0"/>
                <a:sym typeface="+mn-ea"/>
              </a:rPr>
              <a:t> Visually impaired people struggle with navigation, especially in unfamiliar environments.</a:t>
            </a:r>
            <a:endParaRPr lang="en-US" sz="1600" dirty="0">
              <a:latin typeface="Times New Roman" panose="02020603050405020304" pitchFamily="18" charset="0"/>
              <a:cs typeface="Times New Roman" panose="02020603050405020304" pitchFamily="18" charset="0"/>
              <a:sym typeface="+mn-ea"/>
            </a:endParaRPr>
          </a:p>
          <a:p>
            <a:pPr marL="0" indent="0">
              <a:buNone/>
            </a:pPr>
            <a:r>
              <a:rPr lang="en-US" sz="1600" dirty="0">
                <a:latin typeface="Times New Roman" panose="02020603050405020304" pitchFamily="18" charset="0"/>
                <a:cs typeface="Times New Roman" panose="02020603050405020304" pitchFamily="18" charset="0"/>
                <a:sym typeface="+mn-ea"/>
              </a:rPr>
              <a:t>• Existing aids don’t provide multi-directional feedback or instant alerts.</a:t>
            </a:r>
            <a:endParaRPr lang="en-US" sz="1600" dirty="0">
              <a:latin typeface="Times New Roman" panose="02020603050405020304" pitchFamily="18" charset="0"/>
              <a:cs typeface="Times New Roman" panose="02020603050405020304" pitchFamily="18" charset="0"/>
              <a:sym typeface="+mn-ea"/>
            </a:endParaRPr>
          </a:p>
          <a:p>
            <a:pPr marL="0" indent="0">
              <a:buNone/>
            </a:pPr>
            <a:r>
              <a:rPr lang="en-US" sz="1600" dirty="0">
                <a:latin typeface="Times New Roman" panose="02020603050405020304" pitchFamily="18" charset="0"/>
                <a:cs typeface="Times New Roman" panose="02020603050405020304" pitchFamily="18" charset="0"/>
                <a:sym typeface="+mn-ea"/>
              </a:rPr>
              <a:t>• There is a need for a low-cost, wearable, and intelligent navigation aid.</a:t>
            </a:r>
            <a:endParaRPr lang="en-US" sz="1600" dirty="0">
              <a:latin typeface="Times New Roman" panose="02020603050405020304" pitchFamily="18" charset="0"/>
              <a:cs typeface="Times New Roman" panose="02020603050405020304" pitchFamily="18" charset="0"/>
              <a:sym typeface="+mn-ea"/>
            </a:endParaRPr>
          </a:p>
          <a:p>
            <a:pPr marL="0" indent="0">
              <a:buNone/>
            </a:pPr>
            <a:endParaRPr lang="en-GB"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0"/>
            <a:ext cx="10018713" cy="1272209"/>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ABSTRACT</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35312" y="864067"/>
            <a:ext cx="10018713" cy="5500746"/>
          </a:xfrm>
        </p:spPr>
        <p:txBody>
          <a:bodyPr>
            <a:normAutofit/>
          </a:bodyPr>
          <a:lstStyle/>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IoT-based smart shoe is designed to assist visually impaired individuals in navigating their surroundings safely and independently.</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It incorporates ultrasonic sensors to detect obstacles, a microcontroller to process data, and vibration motors or audio alerts to notify users of potential hazards.</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Additionally, GPS and IoT connectivity enable real-time location tracking and emergency assistance. The smart shoe enhances mobility, safety, and independence by providing immediate feedback to the user.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also allows caregivers to monitor the user's location in real-time. The system reduces dependency on external assistance, increases confidence, and offers a cost-effective solution for blind individuals.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Experimental results demonstrate that the smart shoe effectively detects obstacles and improves independent navigation.</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IN" sz="1800" b="1" kern="100" dirty="0">
                <a:solidFill>
                  <a:srgbClr val="000000"/>
                </a:solidFill>
                <a:effectLst/>
                <a:latin typeface="Times New Roman" panose="02020603050405020304" pitchFamily="18" charset="0"/>
                <a:ea typeface="Times New Roman" panose="02020603050405020304" pitchFamily="18" charset="0"/>
              </a:rPr>
              <a:t> INDEX TERMS: </a:t>
            </a:r>
            <a:r>
              <a:rPr lang="en-IN" sz="1800" kern="100" dirty="0">
                <a:solidFill>
                  <a:srgbClr val="000000"/>
                </a:solidFill>
                <a:effectLst/>
                <a:latin typeface="Times New Roman" panose="02020603050405020304" pitchFamily="18" charset="0"/>
                <a:ea typeface="Times New Roman" panose="02020603050405020304" pitchFamily="18" charset="0"/>
              </a:rPr>
              <a:t>IOT, Micro-controller, Ultrasonic sensor, Obstacle Detection, Smart shoe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algn="just">
              <a:buClr>
                <a:srgbClr val="00B0F0"/>
              </a:buClr>
              <a:buSzPct val="10000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0" indent="0" algn="just">
              <a:buClr>
                <a:srgbClr val="00B0F0"/>
              </a:buClr>
              <a:buSzPct val="10000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1378226"/>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BLOCK DIAGRAM</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1"/>
          <a:srcRect t="7506" b="5484"/>
          <a:stretch>
            <a:fillRect/>
          </a:stretch>
        </p:blipFill>
        <p:spPr>
          <a:xfrm>
            <a:off x="2885812" y="1887523"/>
            <a:ext cx="7338074" cy="3791824"/>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0"/>
            <a:ext cx="10018713" cy="1444487"/>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METHODOLOGY</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35981" y="0"/>
            <a:ext cx="10018713" cy="7562128"/>
          </a:xfrm>
        </p:spPr>
        <p:txBody>
          <a:bodyPr>
            <a:normAutofit/>
          </a:bodyPr>
          <a:lstStyle/>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For developing an IoT-based smart shoe for blind people follows a structured approach. First, the problem is identified by understanding the mobility challenges faced by visually impaired individuals and the need for a hands-free navigation aid.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Next, the system is designed by selecting essential components such as ultrasonic sensors for obstacle detection, a microcontroller for processing data, vibration motors or speakers for user alerts, a GPS module for location tracking, and IoT connectivity for remote monitoring.</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hardware integration phase involves embedding these components into the shoe and connecting them to the microcontroller. Meanwhile, the software is developed to process sensor data, trigger alerts, and enable GPS-based tracking.</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system is then tested in various real-world environments to calibrate sensor sensitivity and optimize response timing.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User feedback is gathered to improve the design, focusing on comfort, battery efficiency, and usability. </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Finally, the smart shoe is deployed for practical use, with potential integration into smart city infrastructure and other assistive technologies to enhance accessibility and safety for visually impaired individuals.</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91059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Advantages and Applications</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4310" y="621833"/>
            <a:ext cx="10018713" cy="6236166"/>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Advantages:</a:t>
            </a:r>
            <a:endParaRPr lang="en-US" sz="2000" b="1"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Enhanced Mobility – </a:t>
            </a:r>
            <a:r>
              <a:rPr lang="en-US" sz="1800" dirty="0">
                <a:effectLst/>
                <a:latin typeface="Times New Roman" panose="02020603050405020304" pitchFamily="18" charset="0"/>
                <a:cs typeface="Times New Roman" panose="02020603050405020304" pitchFamily="18" charset="0"/>
              </a:rPr>
              <a:t>Helps visually impaired individuals navigate safely without external assistance.</a:t>
            </a:r>
            <a:endParaRPr lang="en-US" sz="1800" dirty="0">
              <a:effectLst/>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Real-Time Obstacle Detection –</a:t>
            </a:r>
            <a:r>
              <a:rPr lang="en-US" sz="1800" dirty="0">
                <a:effectLst/>
                <a:latin typeface="Times New Roman" panose="02020603050405020304" pitchFamily="18" charset="0"/>
                <a:cs typeface="Times New Roman" panose="02020603050405020304" pitchFamily="18" charset="0"/>
              </a:rPr>
              <a:t> Ultrasonic sensors detect obstacles and alert the user through vibrations or sound. </a:t>
            </a:r>
            <a:endParaRPr lang="en-US" sz="1800" dirty="0">
              <a:effectLst/>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Increased Safety – </a:t>
            </a:r>
            <a:r>
              <a:rPr lang="en-US" sz="1800" dirty="0">
                <a:effectLst/>
                <a:latin typeface="Times New Roman" panose="02020603050405020304" pitchFamily="18" charset="0"/>
                <a:cs typeface="Times New Roman" panose="02020603050405020304" pitchFamily="18" charset="0"/>
              </a:rPr>
              <a:t>Reduces the risk of collisions, falls, and accidents in unfamiliar environments.</a:t>
            </a:r>
            <a:endParaRPr lang="en-US" sz="1800" dirty="0">
              <a:effectLst/>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IoT Connectivity – </a:t>
            </a:r>
            <a:r>
              <a:rPr lang="en-US" sz="1800" dirty="0">
                <a:effectLst/>
                <a:latin typeface="Times New Roman" panose="02020603050405020304" pitchFamily="18" charset="0"/>
                <a:cs typeface="Times New Roman" panose="02020603050405020304" pitchFamily="18" charset="0"/>
              </a:rPr>
              <a:t>Enables remote monitoring and emergency alerts for caregivers.</a:t>
            </a:r>
            <a:endParaRPr lang="en-US" sz="1800"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Hands-Free Operation</a:t>
            </a:r>
            <a:r>
              <a:rPr lang="en-US" sz="1800" dirty="0">
                <a:effectLst/>
                <a:latin typeface="Times New Roman" panose="02020603050405020304" pitchFamily="18" charset="0"/>
                <a:cs typeface="Times New Roman" panose="02020603050405020304" pitchFamily="18" charset="0"/>
              </a:rPr>
              <a:t> – Unlike canes or handheld devices, the smart shoe allows free movement without extra effort.</a:t>
            </a:r>
            <a:endParaRPr lang="en-US" sz="1800" dirty="0">
              <a:effectLst/>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Applications:</a:t>
            </a:r>
            <a:endParaRPr lang="en-US" sz="1800" b="1"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Personal Navigation – </a:t>
            </a:r>
            <a:r>
              <a:rPr lang="en-US" sz="1800" dirty="0">
                <a:effectLst/>
                <a:latin typeface="Times New Roman" panose="02020603050405020304" pitchFamily="18" charset="0"/>
                <a:cs typeface="Times New Roman" panose="02020603050405020304" pitchFamily="18" charset="0"/>
              </a:rPr>
              <a:t>Helps visually impaired individuals move safely in indoor and outdoor environments.</a:t>
            </a:r>
            <a:endParaRPr lang="en-US" sz="1800" b="1" dirty="0">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Obstacle Detection – </a:t>
            </a:r>
            <a:r>
              <a:rPr lang="en-US" sz="1800" dirty="0">
                <a:effectLst/>
                <a:latin typeface="Times New Roman" panose="02020603050405020304" pitchFamily="18" charset="0"/>
                <a:cs typeface="Times New Roman" panose="02020603050405020304" pitchFamily="18" charset="0"/>
              </a:rPr>
              <a:t>Alerts users about obstacles on footpaths, stairs, and uneven surfaces.</a:t>
            </a:r>
            <a:endParaRPr lang="en-US" sz="1800" dirty="0">
              <a:effectLst/>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 Emergency Assistance –</a:t>
            </a:r>
            <a:r>
              <a:rPr lang="en-US" sz="1800" dirty="0">
                <a:effectLst/>
                <a:latin typeface="Times New Roman" panose="02020603050405020304" pitchFamily="18" charset="0"/>
                <a:cs typeface="Times New Roman" panose="02020603050405020304" pitchFamily="18" charset="0"/>
              </a:rPr>
              <a:t> Sends alerts to caregivers or emergency services in case of distress.</a:t>
            </a:r>
            <a:endParaRPr lang="en-US" sz="1800" dirty="0">
              <a:effectLst/>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Indoor Navigation – </a:t>
            </a:r>
            <a:r>
              <a:rPr lang="en-US" sz="1800" dirty="0">
                <a:effectLst/>
                <a:latin typeface="Times New Roman" panose="02020603050405020304" pitchFamily="18" charset="0"/>
                <a:cs typeface="Times New Roman" panose="02020603050405020304" pitchFamily="18" charset="0"/>
              </a:rPr>
              <a:t>Useful in malls, offices, hospitals, and other complex indoor spaces.</a:t>
            </a:r>
            <a:endParaRPr lang="en-US" sz="1800" dirty="0">
              <a:effectLst/>
              <a:latin typeface="Times New Roman" panose="02020603050405020304" pitchFamily="18" charset="0"/>
              <a:cs typeface="Times New Roman" panose="02020603050405020304" pitchFamily="18" charset="0"/>
            </a:endParaRPr>
          </a:p>
          <a:p>
            <a:pPr algn="just">
              <a:buClr>
                <a:srgbClr val="00B0F0"/>
              </a:buClr>
              <a:buSzPct val="100000"/>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 Sports and Recreation – </a:t>
            </a:r>
            <a:r>
              <a:rPr lang="en-US" sz="1800" dirty="0">
                <a:effectLst/>
                <a:latin typeface="Times New Roman" panose="02020603050405020304" pitchFamily="18" charset="0"/>
                <a:cs typeface="Times New Roman" panose="02020603050405020304" pitchFamily="18" charset="0"/>
              </a:rPr>
              <a:t>Helps blind individuals participate in outdoor activities like jogging or walking.</a:t>
            </a:r>
            <a:endParaRPr lang="en-US" sz="1800" dirty="0">
              <a:effectLst/>
              <a:latin typeface="Times New Roman" panose="02020603050405020304" pitchFamily="18" charset="0"/>
              <a:cs typeface="Times New Roman" panose="02020603050405020304" pitchFamily="18" charset="0"/>
            </a:endParaRPr>
          </a:p>
          <a:p>
            <a:pPr marL="0" indent="0" algn="just">
              <a:buNone/>
            </a:pPr>
            <a:endParaRPr lang="en-US" sz="1800" dirty="0">
              <a:effectLst/>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117348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EXPECTED RESULT</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3372373" y="1577130"/>
            <a:ext cx="6098797" cy="3976381"/>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224589"/>
            <a:ext cx="10018713" cy="6320589"/>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Thank you...</a:t>
            </a:r>
            <a:endParaRPr lang="en-IN"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4870</Words>
  <Application>WPS Slides</Application>
  <PresentationFormat>Widescreen</PresentationFormat>
  <Paragraphs>102</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Arial</vt:lpstr>
      <vt:lpstr>Times New Roman</vt:lpstr>
      <vt:lpstr>Times New Roman</vt:lpstr>
      <vt:lpstr>Corbel</vt:lpstr>
      <vt:lpstr>Microsoft YaHei</vt:lpstr>
      <vt:lpstr>Arial Unicode MS</vt:lpstr>
      <vt:lpstr>Calibri</vt:lpstr>
      <vt:lpstr>华文楷体</vt:lpstr>
      <vt:lpstr>Parallax</vt:lpstr>
      <vt:lpstr>BATCH NO:06</vt:lpstr>
      <vt:lpstr>PowerPoint 演示文稿</vt:lpstr>
      <vt:lpstr>PowerPoint 演示文稿</vt:lpstr>
      <vt:lpstr>OBJECTIVES</vt:lpstr>
      <vt:lpstr>PowerPoint 演示文稿</vt:lpstr>
      <vt:lpstr>PowerPoint 演示文稿</vt:lpstr>
      <vt:lpstr>ABSTRACT</vt:lpstr>
      <vt:lpstr>BLOCK DIAGRAM</vt:lpstr>
      <vt:lpstr>METHODOLOGY</vt:lpstr>
      <vt:lpstr>Advantages and Applications</vt:lpstr>
      <vt:lpstr>EXPECTED RESULT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NO:06</dc:title>
  <dc:creator>Mallikarjuna Kummari</dc:creator>
  <cp:lastModifiedBy>Sai Karthik Reddy Kuppireddy</cp:lastModifiedBy>
  <cp:revision>152</cp:revision>
  <dcterms:created xsi:type="dcterms:W3CDTF">2025-02-16T11:14:00Z</dcterms:created>
  <dcterms:modified xsi:type="dcterms:W3CDTF">2025-04-11T06:13:02Z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0FE6BB92997E45D1BF4DF734C55A7DFF_12</vt:lpwstr>
  </property>
  <property fmtid="{D5CDD505-2E9C-101B-9397-08002B2CF9AE}" pid="3" name="KSOProductBuildVer">
    <vt:lpwstr>2057-12.2.0.20755</vt:lpwstr>
  </property>
</Properties>
</file>