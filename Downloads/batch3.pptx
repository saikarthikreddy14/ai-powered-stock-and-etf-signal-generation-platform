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68" r:id="rId6"/>
    <p:sldId id="269" r:id="rId7"/>
    <p:sldId id="270" r:id="rId8"/>
    <p:sldId id="259" r:id="rId9"/>
    <p:sldId id="260" r:id="rId10"/>
    <p:sldId id="273" r:id="rId11"/>
    <p:sldId id="274" r:id="rId12"/>
    <p:sldId id="28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545524554" name="Sai Karthik Reddy Kuppireddy" initials="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44"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commentAuthors" Target="commentAuthors.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hyperlink" Target="mailto:deanacademics@tkrec.ac.in" TargetMode="Externa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253582" y="4703365"/>
            <a:ext cx="6992396" cy="1535179"/>
          </a:xfrm>
        </p:spPr>
        <p:txBody>
          <a:bodyPr>
            <a:noAutofit/>
          </a:bodyPr>
          <a:lstStyle/>
          <a:p>
            <a:pPr algn="l"/>
            <a:r>
              <a:rPr lang="en-US" sz="1800" b="0" dirty="0">
                <a:solidFill>
                  <a:schemeClr val="accent6"/>
                </a:solidFill>
                <a:latin typeface="Times New Roman" panose="02020603050405020304" pitchFamily="18" charset="0"/>
                <a:cs typeface="Times New Roman" panose="02020603050405020304" pitchFamily="18" charset="0"/>
              </a:rPr>
              <a:t>22R91A04D7</a:t>
            </a:r>
            <a:r>
              <a:rPr lang="en-IN" altLang="en-US" sz="1800" b="0" dirty="0">
                <a:solidFill>
                  <a:schemeClr val="accent6"/>
                </a:solidFill>
                <a:latin typeface="Times New Roman" panose="02020603050405020304" pitchFamily="18" charset="0"/>
                <a:cs typeface="Times New Roman" panose="02020603050405020304" pitchFamily="18" charset="0"/>
              </a:rPr>
              <a:t>		</a:t>
            </a:r>
            <a:r>
              <a:rPr lang="en-US" sz="1800" b="0" dirty="0">
                <a:solidFill>
                  <a:schemeClr val="accent6"/>
                </a:solidFill>
                <a:latin typeface="Times New Roman" panose="02020603050405020304" pitchFamily="18" charset="0"/>
                <a:cs typeface="Times New Roman" panose="02020603050405020304" pitchFamily="18" charset="0"/>
              </a:rPr>
              <a:t>SAI KARTHIK REDDY</a:t>
            </a:r>
            <a:r>
              <a:rPr lang="en-IN" altLang="en-US" sz="1800" b="0" dirty="0">
                <a:solidFill>
                  <a:schemeClr val="accent6"/>
                </a:solidFill>
                <a:latin typeface="Times New Roman" panose="02020603050405020304" pitchFamily="18" charset="0"/>
                <a:cs typeface="Times New Roman" panose="02020603050405020304" pitchFamily="18" charset="0"/>
              </a:rPr>
              <a:t>. </a:t>
            </a:r>
            <a:r>
              <a:rPr lang="en-US" sz="1800" b="0" dirty="0">
                <a:solidFill>
                  <a:schemeClr val="accent6"/>
                </a:solidFill>
                <a:latin typeface="Times New Roman" panose="02020603050405020304" pitchFamily="18" charset="0"/>
                <a:cs typeface="Times New Roman" panose="02020603050405020304" pitchFamily="18" charset="0"/>
              </a:rPr>
              <a:t>K</a:t>
            </a:r>
            <a:br>
              <a:rPr lang="en-US" sz="1800" b="0" dirty="0">
                <a:solidFill>
                  <a:schemeClr val="accent6"/>
                </a:solidFill>
                <a:latin typeface="Times New Roman" panose="02020603050405020304" pitchFamily="18" charset="0"/>
                <a:cs typeface="Times New Roman" panose="02020603050405020304" pitchFamily="18" charset="0"/>
              </a:rPr>
            </a:br>
            <a:r>
              <a:rPr lang="en-US" sz="1800" b="0" dirty="0">
                <a:solidFill>
                  <a:schemeClr val="accent6"/>
                </a:solidFill>
                <a:latin typeface="Times New Roman" panose="02020603050405020304" pitchFamily="18" charset="0"/>
                <a:cs typeface="Times New Roman" panose="02020603050405020304" pitchFamily="18" charset="0"/>
              </a:rPr>
              <a:t>22R91A04</a:t>
            </a:r>
            <a:r>
              <a:rPr lang="en-IN" altLang="en-US" sz="1800" b="0" dirty="0">
                <a:solidFill>
                  <a:schemeClr val="accent6"/>
                </a:solidFill>
                <a:latin typeface="Times New Roman" panose="02020603050405020304" pitchFamily="18" charset="0"/>
                <a:cs typeface="Times New Roman" panose="02020603050405020304" pitchFamily="18" charset="0"/>
              </a:rPr>
              <a:t>J4		ESHWAR. P</a:t>
            </a:r>
            <a:br>
              <a:rPr lang="en-US" sz="1800" b="0" dirty="0">
                <a:solidFill>
                  <a:schemeClr val="accent6"/>
                </a:solidFill>
                <a:latin typeface="Times New Roman" panose="02020603050405020304" pitchFamily="18" charset="0"/>
                <a:cs typeface="Times New Roman" panose="02020603050405020304" pitchFamily="18" charset="0"/>
              </a:rPr>
            </a:br>
            <a:r>
              <a:rPr lang="en-US" sz="1800" b="0" dirty="0">
                <a:solidFill>
                  <a:schemeClr val="accent6"/>
                </a:solidFill>
                <a:latin typeface="Times New Roman" panose="02020603050405020304" pitchFamily="18" charset="0"/>
                <a:cs typeface="Times New Roman" panose="02020603050405020304" pitchFamily="18" charset="0"/>
              </a:rPr>
              <a:t>22R91A04</a:t>
            </a:r>
            <a:r>
              <a:rPr lang="en-IN" altLang="en-US" sz="1800" b="0" dirty="0">
                <a:solidFill>
                  <a:schemeClr val="accent6"/>
                </a:solidFill>
                <a:latin typeface="Times New Roman" panose="02020603050405020304" pitchFamily="18" charset="0"/>
                <a:cs typeface="Times New Roman" panose="02020603050405020304" pitchFamily="18" charset="0"/>
              </a:rPr>
              <a:t>D9		JAYA PRAKASH REDDY. M</a:t>
            </a:r>
            <a:br>
              <a:rPr lang="en-US" sz="1800" b="0" dirty="0">
                <a:solidFill>
                  <a:schemeClr val="accent6"/>
                </a:solidFill>
                <a:latin typeface="Times New Roman" panose="02020603050405020304" pitchFamily="18" charset="0"/>
                <a:cs typeface="Times New Roman" panose="02020603050405020304" pitchFamily="18" charset="0"/>
              </a:rPr>
            </a:br>
            <a:r>
              <a:rPr lang="en-US" sz="1800" b="0" dirty="0">
                <a:solidFill>
                  <a:schemeClr val="accent6"/>
                </a:solidFill>
                <a:latin typeface="Times New Roman" panose="02020603050405020304" pitchFamily="18" charset="0"/>
                <a:cs typeface="Times New Roman" panose="02020603050405020304" pitchFamily="18" charset="0"/>
              </a:rPr>
              <a:t>22R91A04E</a:t>
            </a:r>
            <a:r>
              <a:rPr lang="en-IN" altLang="en-US" sz="1800" b="0" dirty="0">
                <a:solidFill>
                  <a:schemeClr val="accent6"/>
                </a:solidFill>
                <a:latin typeface="Times New Roman" panose="02020603050405020304" pitchFamily="18" charset="0"/>
                <a:cs typeface="Times New Roman" panose="02020603050405020304" pitchFamily="18" charset="0"/>
              </a:rPr>
              <a:t>2		BHAGYA RAJU. M</a:t>
            </a:r>
            <a:r>
              <a:rPr lang="en-US" sz="1800" b="0" dirty="0">
                <a:solidFill>
                  <a:schemeClr val="accent6"/>
                </a:solidFill>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a:p>
            <a:pPr algn="l"/>
            <a:endParaRPr lang="en-US" sz="1800" b="0" dirty="0">
              <a:solidFill>
                <a:schemeClr val="accent6"/>
              </a:solidFill>
              <a:latin typeface="Times New Roman" panose="02020603050405020304" pitchFamily="18" charset="0"/>
              <a:cs typeface="Times New Roman" panose="02020603050405020304" pitchFamily="18" charset="0"/>
            </a:endParaRPr>
          </a:p>
          <a:p>
            <a:r>
              <a:rPr lang="en-US" sz="1800" b="0" dirty="0">
                <a:solidFill>
                  <a:schemeClr val="accent6"/>
                </a:solidFill>
                <a:latin typeface="Times New Roman" panose="02020603050405020304" pitchFamily="18" charset="0"/>
                <a:cs typeface="Times New Roman" panose="02020603050405020304" pitchFamily="18" charset="0"/>
              </a:rPr>
              <a:t>. </a:t>
            </a:r>
            <a:endParaRPr lang="en-IN" sz="1800" dirty="0"/>
          </a:p>
        </p:txBody>
      </p:sp>
      <p:pic>
        <p:nvPicPr>
          <p:cNvPr id="4" name="Picture 8"/>
          <p:cNvPicPr>
            <a:picLocks noChangeAspect="1"/>
          </p:cNvPicPr>
          <p:nvPr/>
        </p:nvPicPr>
        <p:blipFill>
          <a:blip r:embed="rId1"/>
          <a:stretch>
            <a:fillRect/>
          </a:stretch>
        </p:blipFill>
        <p:spPr>
          <a:xfrm>
            <a:off x="90908" y="162797"/>
            <a:ext cx="1313821" cy="1440709"/>
          </a:xfrm>
          <a:prstGeom prst="rect">
            <a:avLst/>
          </a:prstGeom>
        </p:spPr>
      </p:pic>
      <p:sp>
        <p:nvSpPr>
          <p:cNvPr id="6" name="TextBox 5"/>
          <p:cNvSpPr txBox="1"/>
          <p:nvPr/>
        </p:nvSpPr>
        <p:spPr>
          <a:xfrm>
            <a:off x="1404730" y="0"/>
            <a:ext cx="9345050" cy="2000548"/>
          </a:xfrm>
          <a:prstGeom prst="rect">
            <a:avLst/>
          </a:prstGeom>
          <a:noFill/>
        </p:spPr>
        <p:txBody>
          <a:bodyPr wrap="square">
            <a:spAutoFit/>
          </a:bodyPr>
          <a:lstStyle/>
          <a:p>
            <a:r>
              <a:rPr lang="en-IN" sz="2400" dirty="0">
                <a:solidFill>
                  <a:srgbClr val="FF0000"/>
                </a:solidFill>
                <a:latin typeface="Times New Roman" panose="02020603050405020304" pitchFamily="18" charset="0"/>
                <a:cs typeface="Times New Roman" panose="02020603050405020304" pitchFamily="18" charset="0"/>
              </a:rPr>
              <a:t>              TEEGALA KRISHNA REDDY ENGINEERING COLLEGE</a:t>
            </a:r>
            <a:endParaRPr lang="en-IN" sz="2400" dirty="0">
              <a:solidFill>
                <a:srgbClr val="FF0000"/>
              </a:solidFill>
              <a:latin typeface="Times New Roman" panose="02020603050405020304" pitchFamily="18" charset="0"/>
              <a:cs typeface="Times New Roman" panose="02020603050405020304" pitchFamily="18" charset="0"/>
            </a:endParaRPr>
          </a:p>
          <a:p>
            <a:pPr algn="ctr"/>
            <a:r>
              <a:rPr lang="en-IN" sz="2000" dirty="0">
                <a:solidFill>
                  <a:schemeClr val="tx1">
                    <a:lumMod val="50000"/>
                    <a:lumOff val="50000"/>
                  </a:schemeClr>
                </a:solidFill>
                <a:latin typeface="Times New Roman" panose="02020603050405020304" pitchFamily="18" charset="0"/>
                <a:cs typeface="Times New Roman" panose="02020603050405020304" pitchFamily="18" charset="0"/>
              </a:rPr>
              <a:t>(UGC-Autonomous)</a:t>
            </a:r>
            <a:endParaRPr lang="en-IN" sz="2000" dirty="0">
              <a:solidFill>
                <a:schemeClr val="tx1">
                  <a:lumMod val="50000"/>
                  <a:lumOff val="50000"/>
                </a:schemeClr>
              </a:solidFill>
              <a:latin typeface="Times New Roman" panose="02020603050405020304" pitchFamily="18" charset="0"/>
              <a:cs typeface="Times New Roman" panose="02020603050405020304" pitchFamily="18" charset="0"/>
            </a:endParaRPr>
          </a:p>
          <a:p>
            <a:pPr algn="ctr"/>
            <a:r>
              <a:rPr lang="en-IN" sz="1400" dirty="0">
                <a:latin typeface="Times New Roman" panose="02020603050405020304" pitchFamily="18" charset="0"/>
                <a:cs typeface="Times New Roman" panose="02020603050405020304" pitchFamily="18" charset="0"/>
              </a:rPr>
              <a:t>Approved by AICTE, Affiliated by JNTUH, Accredited by NAAC- ‘A’ Grade</a:t>
            </a:r>
            <a:endParaRPr lang="en-IN" sz="1400" dirty="0">
              <a:latin typeface="Times New Roman" panose="02020603050405020304" pitchFamily="18" charset="0"/>
              <a:cs typeface="Times New Roman" panose="02020603050405020304" pitchFamily="18" charset="0"/>
            </a:endParaRPr>
          </a:p>
          <a:p>
            <a:pPr algn="ctr"/>
            <a:r>
              <a:rPr lang="en-IN" sz="1400" dirty="0" err="1">
                <a:latin typeface="Times New Roman" panose="02020603050405020304" pitchFamily="18" charset="0"/>
                <a:cs typeface="Times New Roman" panose="02020603050405020304" pitchFamily="18" charset="0"/>
              </a:rPr>
              <a:t>Medbowli</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Meerpet</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Balapur</a:t>
            </a:r>
            <a:r>
              <a:rPr lang="en-IN" sz="1400" dirty="0">
                <a:latin typeface="Times New Roman" panose="02020603050405020304" pitchFamily="18" charset="0"/>
                <a:cs typeface="Times New Roman" panose="02020603050405020304" pitchFamily="18" charset="0"/>
              </a:rPr>
              <a:t>, Hyderabad, Telangana- 500097</a:t>
            </a:r>
            <a:endParaRPr lang="en-IN" sz="1400" dirty="0">
              <a:latin typeface="Times New Roman" panose="02020603050405020304" pitchFamily="18" charset="0"/>
              <a:cs typeface="Times New Roman" panose="02020603050405020304" pitchFamily="18" charset="0"/>
            </a:endParaRPr>
          </a:p>
          <a:p>
            <a:pPr algn="ctr"/>
            <a:r>
              <a:rPr lang="en-IN" sz="1400" dirty="0">
                <a:latin typeface="Times New Roman" panose="02020603050405020304" pitchFamily="18" charset="0"/>
                <a:cs typeface="Times New Roman" panose="02020603050405020304" pitchFamily="18" charset="0"/>
              </a:rPr>
              <a:t>Mob: 9393959597. Email: info@tkrec.ac.in, </a:t>
            </a:r>
            <a:r>
              <a:rPr lang="en-IN" sz="1400" dirty="0">
                <a:latin typeface="Times New Roman" panose="02020603050405020304" pitchFamily="18" charset="0"/>
                <a:cs typeface="Times New Roman" panose="02020603050405020304" pitchFamily="18" charset="0"/>
                <a:hlinkClick r:id="rId2"/>
              </a:rPr>
              <a:t>deanacademics@tkrec.ac.in</a:t>
            </a:r>
            <a:endParaRPr lang="en-IN" sz="1400" dirty="0">
              <a:latin typeface="Times New Roman" panose="02020603050405020304" pitchFamily="18" charset="0"/>
              <a:cs typeface="Times New Roman" panose="02020603050405020304" pitchFamily="18" charset="0"/>
            </a:endParaRPr>
          </a:p>
          <a:p>
            <a:pPr algn="ctr"/>
            <a:endParaRPr lang="en-IN" sz="2000"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DEPARTMENT OF ELECTRONICS AND COMMUNICATION ENGINEERING                </a:t>
            </a:r>
            <a:endParaRPr lang="en-IN" dirty="0">
              <a:latin typeface="Times New Roman" panose="02020603050405020304" pitchFamily="18" charset="0"/>
              <a:cs typeface="Times New Roman" panose="02020603050405020304" pitchFamily="18" charset="0"/>
            </a:endParaRPr>
          </a:p>
        </p:txBody>
      </p:sp>
      <p:pic>
        <p:nvPicPr>
          <p:cNvPr id="7" name="Picture 10"/>
          <p:cNvPicPr>
            <a:picLocks noChangeAspect="1"/>
          </p:cNvPicPr>
          <p:nvPr/>
        </p:nvPicPr>
        <p:blipFill>
          <a:blip r:embed="rId3"/>
          <a:stretch>
            <a:fillRect/>
          </a:stretch>
        </p:blipFill>
        <p:spPr>
          <a:xfrm>
            <a:off x="10601739" y="162798"/>
            <a:ext cx="1499352" cy="1440709"/>
          </a:xfrm>
          <a:prstGeom prst="rect">
            <a:avLst/>
          </a:prstGeom>
        </p:spPr>
      </p:pic>
      <p:cxnSp>
        <p:nvCxnSpPr>
          <p:cNvPr id="10" name="Straight Connector 9"/>
          <p:cNvCxnSpPr/>
          <p:nvPr/>
        </p:nvCxnSpPr>
        <p:spPr>
          <a:xfrm>
            <a:off x="1736035" y="1934817"/>
            <a:ext cx="10177669"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464904" y="1934817"/>
            <a:ext cx="8401877" cy="1568450"/>
          </a:xfrm>
          <a:prstGeom prst="rect">
            <a:avLst/>
          </a:prstGeom>
          <a:noFill/>
        </p:spPr>
        <p:txBody>
          <a:bodyPr wrap="square">
            <a:spAutoFit/>
          </a:bodyPr>
          <a:lstStyle/>
          <a:p>
            <a:r>
              <a:rPr lang="en-US" sz="2400" b="1" dirty="0">
                <a:solidFill>
                  <a:srgbClr val="00B0F0"/>
                </a:solidFill>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Batch No.03</a:t>
            </a:r>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r>
              <a:rPr lang="en-US" sz="2400" b="1" dirty="0">
                <a:solidFill>
                  <a:srgbClr val="00B0F0"/>
                </a:solidFill>
                <a:latin typeface="Times New Roman" panose="02020603050405020304" pitchFamily="18" charset="0"/>
                <a:cs typeface="Times New Roman" panose="02020603050405020304" pitchFamily="18" charset="0"/>
              </a:rPr>
              <a:t>DESIGN AND </a:t>
            </a:r>
            <a:r>
              <a:rPr lang="en-IN" altLang="en-US" sz="2400" b="1" dirty="0">
                <a:solidFill>
                  <a:srgbClr val="00B0F0"/>
                </a:solidFill>
                <a:latin typeface="Times New Roman" panose="02020603050405020304" pitchFamily="18" charset="0"/>
                <a:cs typeface="Times New Roman" panose="02020603050405020304" pitchFamily="18" charset="0"/>
              </a:rPr>
              <a:t>ANALYSIS</a:t>
            </a:r>
            <a:r>
              <a:rPr lang="en-US" sz="2400" b="1" dirty="0">
                <a:solidFill>
                  <a:srgbClr val="00B0F0"/>
                </a:solidFill>
                <a:latin typeface="Times New Roman" panose="02020603050405020304" pitchFamily="18" charset="0"/>
                <a:cs typeface="Times New Roman" panose="02020603050405020304" pitchFamily="18" charset="0"/>
              </a:rPr>
              <a:t> OF </a:t>
            </a:r>
            <a:r>
              <a:rPr lang="en-IN" altLang="en-US" sz="2400" b="1" dirty="0">
                <a:solidFill>
                  <a:srgbClr val="00B0F0"/>
                </a:solidFill>
                <a:latin typeface="Times New Roman" panose="02020603050405020304" pitchFamily="18" charset="0"/>
                <a:cs typeface="Times New Roman" panose="02020603050405020304" pitchFamily="18" charset="0"/>
              </a:rPr>
              <a:t>POWER- EFFICIENT QUANTUM REVERSIBLE CARRY SELECT ADDERS</a:t>
            </a:r>
            <a:endParaRPr lang="en-IN" altLang="en-US" sz="2400" b="1" dirty="0">
              <a:solidFill>
                <a:srgbClr val="00B0F0"/>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4360542" y="4303050"/>
            <a:ext cx="6096000" cy="369332"/>
          </a:xfrm>
          <a:prstGeom prst="rect">
            <a:avLst/>
          </a:prstGeom>
          <a:noFill/>
        </p:spPr>
        <p:txBody>
          <a:bodyPr wrap="square">
            <a:spAutoFit/>
          </a:bodyPr>
          <a:lstStyle/>
          <a:p>
            <a:pPr algn="r"/>
            <a:r>
              <a:rPr lang="en-US" sz="1800" b="1" u="sng" dirty="0">
                <a:solidFill>
                  <a:schemeClr val="accent6"/>
                </a:solidFill>
                <a:latin typeface="Times New Roman" panose="02020603050405020304" pitchFamily="18" charset="0"/>
                <a:cs typeface="Times New Roman" panose="02020603050405020304" pitchFamily="18" charset="0"/>
              </a:rPr>
              <a:t>TEAM MEMBERS :-</a:t>
            </a:r>
            <a:endParaRPr lang="en-US" sz="1800" b="1" u="sng" dirty="0">
              <a:solidFill>
                <a:schemeClr val="accent6"/>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282098" y="5593438"/>
            <a:ext cx="3498574" cy="922020"/>
          </a:xfrm>
          <a:prstGeom prst="rect">
            <a:avLst/>
          </a:prstGeom>
          <a:noFill/>
        </p:spPr>
        <p:txBody>
          <a:bodyPr wrap="square">
            <a:spAutoFit/>
          </a:bodyPr>
          <a:lstStyle/>
          <a:p>
            <a:pPr algn="ctr"/>
            <a:r>
              <a:rPr lang="en-US" b="1" dirty="0">
                <a:solidFill>
                  <a:schemeClr val="tx1"/>
                </a:solidFill>
                <a:latin typeface="Times New Roman" panose="02020603050405020304" pitchFamily="18" charset="0"/>
                <a:cs typeface="Times New Roman" panose="02020603050405020304" pitchFamily="18" charset="0"/>
              </a:rPr>
              <a:t>GUIDED  BY:-</a:t>
            </a:r>
            <a:endParaRPr lang="en-US" b="1" dirty="0">
              <a:solidFill>
                <a:schemeClr val="tx1"/>
              </a:solidFill>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Mr. N. ARAVIND</a:t>
            </a: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ASSISTANT PROFESSOR</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96085" y="1076960"/>
            <a:ext cx="10019030" cy="4598035"/>
          </a:xfrm>
        </p:spPr>
        <p:txBody>
          <a:bodyPr>
            <a:normAutofit lnSpcReduction="10000"/>
          </a:bodyPr>
          <a:lstStyle/>
          <a:p>
            <a:pPr marL="0" indent="0">
              <a:lnSpc>
                <a:spcPct val="150000"/>
              </a:lnSpc>
              <a:spcAft>
                <a:spcPts val="0"/>
              </a:spcAft>
              <a:buNone/>
            </a:pPr>
            <a:r>
              <a:rPr lang="en-US" sz="2000" dirty="0">
                <a:latin typeface="Times New Roman" panose="02020603050405020304" pitchFamily="18" charset="0"/>
                <a:cs typeface="Times New Roman" panose="02020603050405020304" pitchFamily="18" charset="0"/>
              </a:rPr>
              <a:t>1. OBJECTIVE</a:t>
            </a:r>
            <a:endParaRPr lang="en-US" sz="2000" dirty="0">
              <a:latin typeface="Times New Roman" panose="02020603050405020304" pitchFamily="18" charset="0"/>
              <a:cs typeface="Times New Roman" panose="02020603050405020304" pitchFamily="18" charset="0"/>
            </a:endParaRPr>
          </a:p>
          <a:p>
            <a:pPr marL="0" indent="0">
              <a:lnSpc>
                <a:spcPct val="150000"/>
              </a:lnSpc>
              <a:spcAft>
                <a:spcPts val="0"/>
              </a:spcAft>
              <a:buNone/>
            </a:pPr>
            <a:r>
              <a:rPr lang="en-US" sz="2000" dirty="0">
                <a:latin typeface="Times New Roman" panose="02020603050405020304" pitchFamily="18" charset="0"/>
                <a:cs typeface="Times New Roman" panose="02020603050405020304" pitchFamily="18" charset="0"/>
              </a:rPr>
              <a:t>2. EXISTING SYSTEM</a:t>
            </a:r>
            <a:endParaRPr lang="en-US" sz="2000" dirty="0">
              <a:latin typeface="Times New Roman" panose="02020603050405020304" pitchFamily="18" charset="0"/>
              <a:cs typeface="Times New Roman" panose="02020603050405020304" pitchFamily="18" charset="0"/>
            </a:endParaRPr>
          </a:p>
          <a:p>
            <a:pPr marL="0" indent="0">
              <a:lnSpc>
                <a:spcPct val="150000"/>
              </a:lnSpc>
              <a:spcAft>
                <a:spcPts val="0"/>
              </a:spcAft>
              <a:buNone/>
            </a:pPr>
            <a:r>
              <a:rPr lang="en-IN" altLang="en-US" sz="2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PROBLEM IDENTIFICATION</a:t>
            </a:r>
            <a:endParaRPr lang="en-US" sz="2000" dirty="0">
              <a:latin typeface="Times New Roman" panose="02020603050405020304" pitchFamily="18" charset="0"/>
              <a:cs typeface="Times New Roman" panose="02020603050405020304" pitchFamily="18" charset="0"/>
            </a:endParaRPr>
          </a:p>
          <a:p>
            <a:pPr marL="0" indent="0">
              <a:lnSpc>
                <a:spcPct val="150000"/>
              </a:lnSpc>
              <a:spcAft>
                <a:spcPts val="0"/>
              </a:spcAft>
              <a:buNone/>
            </a:pPr>
            <a:r>
              <a:rPr lang="en-IN" altLang="en-US" sz="2000" dirty="0">
                <a:latin typeface="Times New Roman" panose="02020603050405020304" pitchFamily="18" charset="0"/>
                <a:cs typeface="Times New Roman" panose="02020603050405020304" pitchFamily="18" charset="0"/>
              </a:rPr>
              <a:t>4</a:t>
            </a:r>
            <a:r>
              <a:rPr lang="en-US" sz="2000" dirty="0">
                <a:latin typeface="Times New Roman" panose="02020603050405020304" pitchFamily="18" charset="0"/>
                <a:cs typeface="Times New Roman" panose="02020603050405020304" pitchFamily="18" charset="0"/>
              </a:rPr>
              <a:t>. PROPOSED SYSTEM</a:t>
            </a:r>
            <a:endParaRPr lang="en-US" sz="2000" dirty="0">
              <a:latin typeface="Times New Roman" panose="02020603050405020304" pitchFamily="18" charset="0"/>
              <a:cs typeface="Times New Roman" panose="02020603050405020304" pitchFamily="18" charset="0"/>
            </a:endParaRPr>
          </a:p>
          <a:p>
            <a:pPr marL="0" indent="0">
              <a:lnSpc>
                <a:spcPct val="150000"/>
              </a:lnSpc>
              <a:spcAft>
                <a:spcPts val="0"/>
              </a:spcAft>
              <a:buNone/>
            </a:pPr>
            <a:r>
              <a:rPr lang="en-IN" altLang="en-US" sz="2000" dirty="0">
                <a:latin typeface="Times New Roman" panose="02020603050405020304" pitchFamily="18" charset="0"/>
                <a:cs typeface="Times New Roman" panose="02020603050405020304" pitchFamily="18" charset="0"/>
              </a:rPr>
              <a:t>5. ABSTRACT</a:t>
            </a:r>
            <a:endParaRPr lang="en-IN" altLang="en-US" sz="2000" dirty="0">
              <a:latin typeface="Times New Roman" panose="02020603050405020304" pitchFamily="18" charset="0"/>
              <a:cs typeface="Times New Roman" panose="02020603050405020304" pitchFamily="18" charset="0"/>
            </a:endParaRPr>
          </a:p>
          <a:p>
            <a:pPr marL="0" indent="0">
              <a:lnSpc>
                <a:spcPct val="150000"/>
              </a:lnSpc>
              <a:spcAft>
                <a:spcPts val="0"/>
              </a:spcAft>
              <a:buNone/>
            </a:pPr>
            <a:r>
              <a:rPr lang="en-IN" altLang="en-US" sz="2000" dirty="0">
                <a:latin typeface="Times New Roman" panose="02020603050405020304" pitchFamily="18" charset="0"/>
                <a:cs typeface="Times New Roman" panose="02020603050405020304" pitchFamily="18" charset="0"/>
              </a:rPr>
              <a:t>6</a:t>
            </a:r>
            <a:r>
              <a:rPr lang="en-US" sz="2000" dirty="0">
                <a:latin typeface="Times New Roman" panose="02020603050405020304" pitchFamily="18" charset="0"/>
                <a:cs typeface="Times New Roman" panose="02020603050405020304" pitchFamily="18" charset="0"/>
              </a:rPr>
              <a:t>. BLOCK DIAGRAM</a:t>
            </a:r>
            <a:endParaRPr lang="en-US" sz="2000" dirty="0">
              <a:latin typeface="Times New Roman" panose="02020603050405020304" pitchFamily="18" charset="0"/>
              <a:cs typeface="Times New Roman" panose="02020603050405020304" pitchFamily="18" charset="0"/>
            </a:endParaRPr>
          </a:p>
          <a:p>
            <a:pPr marL="0" indent="0">
              <a:lnSpc>
                <a:spcPct val="150000"/>
              </a:lnSpc>
              <a:spcAft>
                <a:spcPts val="0"/>
              </a:spcAft>
              <a:buNone/>
            </a:pPr>
            <a:r>
              <a:rPr lang="en-IN" altLang="en-US" sz="2000" dirty="0">
                <a:latin typeface="Times New Roman" panose="02020603050405020304" pitchFamily="18" charset="0"/>
                <a:cs typeface="Times New Roman" panose="02020603050405020304" pitchFamily="18" charset="0"/>
              </a:rPr>
              <a:t>7</a:t>
            </a:r>
            <a:r>
              <a:rPr lang="en-US" sz="2000" dirty="0">
                <a:latin typeface="Times New Roman" panose="02020603050405020304" pitchFamily="18" charset="0"/>
                <a:cs typeface="Times New Roman" panose="02020603050405020304" pitchFamily="18" charset="0"/>
              </a:rPr>
              <a:t>. </a:t>
            </a:r>
            <a:r>
              <a:rPr lang="en-US" altLang="en-IN" sz="2000" dirty="0">
                <a:latin typeface="Times New Roman" panose="02020603050405020304" pitchFamily="18" charset="0"/>
                <a:cs typeface="Times New Roman" panose="02020603050405020304" pitchFamily="18" charset="0"/>
              </a:rPr>
              <a:t>ADVANTAGES</a:t>
            </a:r>
            <a:endParaRPr lang="en-US" altLang="en-IN" sz="2000" dirty="0">
              <a:latin typeface="Times New Roman" panose="02020603050405020304" pitchFamily="18" charset="0"/>
              <a:cs typeface="Times New Roman" panose="02020603050405020304" pitchFamily="18" charset="0"/>
            </a:endParaRPr>
          </a:p>
          <a:p>
            <a:pPr marL="0" indent="0">
              <a:lnSpc>
                <a:spcPct val="150000"/>
              </a:lnSpc>
              <a:spcAft>
                <a:spcPts val="0"/>
              </a:spcAft>
              <a:buNone/>
            </a:pPr>
            <a:r>
              <a:rPr lang="en-IN" altLang="en-US" sz="2000" dirty="0">
                <a:latin typeface="Times New Roman" panose="02020603050405020304" pitchFamily="18" charset="0"/>
                <a:cs typeface="Times New Roman" panose="02020603050405020304" pitchFamily="18" charset="0"/>
              </a:rPr>
              <a:t>8</a:t>
            </a:r>
            <a:r>
              <a:rPr lang="en-US" altLang="en-IN" sz="2000" dirty="0">
                <a:latin typeface="Times New Roman" panose="02020603050405020304" pitchFamily="18" charset="0"/>
                <a:cs typeface="Times New Roman" panose="02020603050405020304" pitchFamily="18" charset="0"/>
              </a:rPr>
              <a:t>. APPLICATIONS </a:t>
            </a:r>
            <a:endParaRPr lang="zh-CN" altLang="en-US" sz="2000" dirty="0">
              <a:latin typeface="Times New Roman" panose="02020603050405020304" pitchFamily="18" charset="0"/>
              <a:cs typeface="Times New Roman" panose="02020603050405020304" pitchFamily="18" charset="0"/>
            </a:endParaRPr>
          </a:p>
          <a:p>
            <a:pPr marL="0" indent="0">
              <a:lnSpc>
                <a:spcPct val="150000"/>
              </a:lnSpc>
              <a:spcAft>
                <a:spcPts val="0"/>
              </a:spcAft>
              <a:buNone/>
            </a:pPr>
            <a:endParaRPr lang="zh-CN" altLang="en-US" sz="2000" dirty="0">
              <a:latin typeface="Times New Roman" panose="02020603050405020304" pitchFamily="18" charset="0"/>
              <a:cs typeface="Times New Roman" panose="02020603050405020304" pitchFamily="18" charset="0"/>
            </a:endParaRPr>
          </a:p>
          <a:p>
            <a:pPr marL="0" indent="0">
              <a:lnSpc>
                <a:spcPct val="150000"/>
              </a:lnSpc>
              <a:buNone/>
            </a:pPr>
            <a:endParaRPr lang="en-IN" dirty="0">
              <a:latin typeface="Times New Roman" panose="02020603050405020304" pitchFamily="18" charset="0"/>
              <a:cs typeface="Times New Roman" panose="02020603050405020304" pitchFamily="18" charset="0"/>
            </a:endParaRPr>
          </a:p>
        </p:txBody>
      </p:sp>
      <p:sp>
        <p:nvSpPr>
          <p:cNvPr id="5" name="TextBox 4"/>
          <p:cNvSpPr txBox="1"/>
          <p:nvPr/>
        </p:nvSpPr>
        <p:spPr>
          <a:xfrm>
            <a:off x="1696085" y="191135"/>
            <a:ext cx="9103995" cy="702945"/>
          </a:xfrm>
          <a:prstGeom prst="rect">
            <a:avLst/>
          </a:prstGeom>
          <a:noFill/>
        </p:spPr>
        <p:txBody>
          <a:bodyPr wrap="square">
            <a:noAutofit/>
          </a:bodyPr>
          <a:lstStyle/>
          <a:p>
            <a:pPr algn="ctr"/>
            <a:r>
              <a:rPr lang="en-GB" sz="2400" b="1" dirty="0">
                <a:solidFill>
                  <a:srgbClr val="FF0000"/>
                </a:solidFill>
                <a:latin typeface="Times New Roman" panose="02020603050405020304" pitchFamily="18" charset="0"/>
                <a:cs typeface="Times New Roman" panose="02020603050405020304" pitchFamily="18" charset="0"/>
              </a:rPr>
              <a:t>Table of Contents</a:t>
            </a:r>
            <a:endParaRPr lang="en-IN" sz="2400" b="1"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305" y="0"/>
            <a:ext cx="9885045" cy="1066800"/>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OBJECTIVES</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00620" y="-147483"/>
            <a:ext cx="10250490" cy="5384800"/>
          </a:xfrm>
        </p:spPr>
        <p:txBody>
          <a:bodyPr>
            <a:normAutofit/>
          </a:bodyPr>
          <a:lstStyle/>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algn="just">
              <a:lnSpc>
                <a:spcPct val="150000"/>
              </a:lnSpc>
              <a:buClr>
                <a:srgbClr val="00B0F0"/>
              </a:buClr>
              <a:buSzPct val="100000"/>
              <a:buFont typeface="Wingdings" panose="05000000000000000000" pitchFamily="2" charset="2"/>
              <a:buChar char="Ø"/>
            </a:pPr>
            <a:r>
              <a:rPr lang="en-IN" altLang="en-US" sz="1800" dirty="0">
                <a:latin typeface="Times New Roman" panose="02020603050405020304" pitchFamily="18" charset="0"/>
                <a:cs typeface="Times New Roman" panose="02020603050405020304" pitchFamily="18" charset="0"/>
              </a:rPr>
              <a:t>To d</a:t>
            </a:r>
            <a:r>
              <a:rPr lang="en-US" altLang="en-GB" sz="1800" dirty="0">
                <a:latin typeface="Times New Roman" panose="02020603050405020304" pitchFamily="18" charset="0"/>
                <a:cs typeface="Times New Roman" panose="02020603050405020304" pitchFamily="18" charset="0"/>
              </a:rPr>
              <a:t>evelop five novel reversible carry-select adder circuits using quantum logic principles</a:t>
            </a:r>
            <a:r>
              <a:rPr lang="en-IN" altLang="en-US" sz="1800" dirty="0">
                <a:latin typeface="Times New Roman" panose="02020603050405020304" pitchFamily="18" charset="0"/>
                <a:cs typeface="Times New Roman" panose="02020603050405020304" pitchFamily="18" charset="0"/>
              </a:rPr>
              <a:t>.</a:t>
            </a:r>
            <a:endParaRPr lang="en-IN" altLang="en-US" sz="1800" dirty="0">
              <a:latin typeface="Times New Roman" panose="02020603050405020304" pitchFamily="18" charset="0"/>
              <a:cs typeface="Times New Roman" panose="02020603050405020304" pitchFamily="18" charset="0"/>
            </a:endParaRPr>
          </a:p>
          <a:p>
            <a:pPr algn="just">
              <a:lnSpc>
                <a:spcPct val="150000"/>
              </a:lnSpc>
              <a:buClr>
                <a:srgbClr val="00B0F0"/>
              </a:buClr>
              <a:buSzPct val="100000"/>
              <a:buFont typeface="Wingdings" panose="05000000000000000000" pitchFamily="2" charset="2"/>
              <a:buChar char="Ø"/>
            </a:pPr>
            <a:r>
              <a:rPr lang="en-IN" altLang="en-US" sz="1800" dirty="0">
                <a:latin typeface="Times New Roman" panose="02020603050405020304" pitchFamily="18" charset="0"/>
                <a:cs typeface="Times New Roman" panose="02020603050405020304" pitchFamily="18" charset="0"/>
              </a:rPr>
              <a:t>To </a:t>
            </a:r>
            <a:r>
              <a:rPr lang="en-US" altLang="en-GB" sz="1800" dirty="0">
                <a:latin typeface="Times New Roman" panose="02020603050405020304" pitchFamily="18" charset="0"/>
                <a:cs typeface="Times New Roman" panose="02020603050405020304" pitchFamily="18" charset="0"/>
              </a:rPr>
              <a:t>optimize for pipelined execution to minimize power consumption and delay.</a:t>
            </a:r>
            <a:endParaRPr lang="en-US" altLang="en-GB" sz="1800" dirty="0">
              <a:latin typeface="Times New Roman" panose="02020603050405020304" pitchFamily="18" charset="0"/>
              <a:cs typeface="Times New Roman" panose="02020603050405020304" pitchFamily="18" charset="0"/>
            </a:endParaRPr>
          </a:p>
          <a:p>
            <a:pPr algn="just">
              <a:lnSpc>
                <a:spcPct val="150000"/>
              </a:lnSpc>
              <a:buClr>
                <a:srgbClr val="00B0F0"/>
              </a:buClr>
              <a:buSzPct val="100000"/>
              <a:buFont typeface="Wingdings" panose="05000000000000000000" pitchFamily="2" charset="2"/>
              <a:buChar char="Ø"/>
            </a:pPr>
            <a:r>
              <a:rPr lang="en-IN" altLang="en-US" sz="1800" dirty="0">
                <a:latin typeface="Times New Roman" panose="02020603050405020304" pitchFamily="18" charset="0"/>
                <a:cs typeface="Times New Roman" panose="02020603050405020304" pitchFamily="18" charset="0"/>
              </a:rPr>
              <a:t>To e</a:t>
            </a:r>
            <a:r>
              <a:rPr lang="en-US" altLang="en-GB" sz="1800" dirty="0">
                <a:latin typeface="Times New Roman" panose="02020603050405020304" pitchFamily="18" charset="0"/>
                <a:cs typeface="Times New Roman" panose="02020603050405020304" pitchFamily="18" charset="0"/>
              </a:rPr>
              <a:t>valuate each design for key quantum computing performance indicators</a:t>
            </a:r>
            <a:r>
              <a:rPr lang="en-IN" altLang="en-US" sz="1800" dirty="0">
                <a:latin typeface="Times New Roman" panose="02020603050405020304" pitchFamily="18" charset="0"/>
                <a:cs typeface="Times New Roman" panose="02020603050405020304" pitchFamily="18" charset="0"/>
              </a:rPr>
              <a:t> such as quantum cost, delay and area efficiency.</a:t>
            </a:r>
            <a:endParaRPr lang="en-IN" altLang="en-US" sz="1800" dirty="0">
              <a:latin typeface="Times New Roman" panose="02020603050405020304" pitchFamily="18" charset="0"/>
              <a:cs typeface="Times New Roman" panose="02020603050405020304" pitchFamily="18" charset="0"/>
            </a:endParaRPr>
          </a:p>
          <a:p>
            <a:pPr algn="just">
              <a:lnSpc>
                <a:spcPct val="150000"/>
              </a:lnSpc>
              <a:buClr>
                <a:srgbClr val="00B0F0"/>
              </a:buClr>
              <a:buSzPct val="100000"/>
              <a:buFont typeface="Wingdings" panose="05000000000000000000" pitchFamily="2" charset="2"/>
              <a:buChar char="Ø"/>
            </a:pPr>
            <a:r>
              <a:rPr lang="en-IN" altLang="en-US" sz="1800" dirty="0">
                <a:latin typeface="Times New Roman" panose="02020603050405020304" pitchFamily="18" charset="0"/>
                <a:cs typeface="Times New Roman" panose="02020603050405020304" pitchFamily="18" charset="0"/>
              </a:rPr>
              <a:t>To e</a:t>
            </a:r>
            <a:r>
              <a:rPr lang="en-US" altLang="en-GB" sz="1800" dirty="0">
                <a:latin typeface="Times New Roman" panose="02020603050405020304" pitchFamily="18" charset="0"/>
                <a:cs typeface="Times New Roman" panose="02020603050405020304" pitchFamily="18" charset="0"/>
              </a:rPr>
              <a:t>nsure the proposed designs are scalable for any n-bit input size, maintaining reversibility and logical consistency across varied bit-widths.</a:t>
            </a:r>
            <a:endParaRPr lang="en-US" altLang="en-GB"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26210" y="0"/>
            <a:ext cx="10019030" cy="1432560"/>
          </a:xfrm>
        </p:spPr>
        <p:txBody>
          <a:bodyPr/>
          <a:p>
            <a:r>
              <a:rPr lang="en-US" sz="2400" b="1" dirty="0">
                <a:solidFill>
                  <a:srgbClr val="FF0000"/>
                </a:solidFill>
                <a:latin typeface="Times New Roman" panose="02020603050405020304" pitchFamily="18" charset="0"/>
                <a:cs typeface="Times New Roman" panose="02020603050405020304" pitchFamily="18" charset="0"/>
                <a:sym typeface="+mn-ea"/>
              </a:rPr>
              <a:t>Existing System</a:t>
            </a:r>
            <a:endParaRPr lang="en-GB" altLang="en-US" sz="2400"/>
          </a:p>
        </p:txBody>
      </p:sp>
      <p:sp>
        <p:nvSpPr>
          <p:cNvPr id="3" name="Content Placeholder 2"/>
          <p:cNvSpPr>
            <a:spLocks noGrp="1"/>
          </p:cNvSpPr>
          <p:nvPr>
            <p:ph idx="1"/>
          </p:nvPr>
        </p:nvSpPr>
        <p:spPr>
          <a:xfrm>
            <a:off x="1484310" y="1781174"/>
            <a:ext cx="10018713" cy="3124201"/>
          </a:xfrm>
        </p:spPr>
        <p:txBody>
          <a:bodyPr/>
          <a:p>
            <a:pPr marL="0" indent="0">
              <a:lnSpc>
                <a:spcPct val="150000"/>
              </a:lnSpc>
              <a:buNone/>
            </a:pPr>
            <a:r>
              <a:rPr lang="en-US" altLang="en-GB" sz="1800">
                <a:latin typeface="Times New Roman" panose="02020603050405020304" pitchFamily="18" charset="0"/>
                <a:cs typeface="Times New Roman" panose="02020603050405020304" pitchFamily="18" charset="0"/>
              </a:rPr>
              <a:t>Conventional CSLA architectures use irreversible logic gates, resulting in high energy loss due to heat dissipation. Prior reversible CSLA designs based on gates like HNG, COG, and Peres aim to reduce quantum cost and delay but lack pipelining support. Designs such as ripple carry adders (RCA), conditional CSLA, and fixed-size CSLA improve speed or cost individually, yet struggle with scalability and optimized resource use. None of these fully integrate pipelining with reversible logic to minimize quantum delay. This gap opens the door for advanced pipelined CSLA models with better power efficiency and performance balance.</a:t>
            </a:r>
            <a:endParaRPr lang="en-US" altLang="en-GB" sz="1800">
              <a:latin typeface="Times New Roman" panose="02020603050405020304" pitchFamily="18" charset="0"/>
              <a:cs typeface="Times New Roman" panose="02020603050405020304" pitchFamily="18" charset="0"/>
            </a:endParaRPr>
          </a:p>
          <a:p>
            <a:pPr marL="0" indent="0">
              <a:lnSpc>
                <a:spcPct val="150000"/>
              </a:lnSpc>
              <a:buNone/>
            </a:pPr>
            <a:endParaRPr lang="en-US" altLang="en-GB" sz="1800">
              <a:latin typeface="Times New Roman" panose="02020603050405020304" pitchFamily="18" charset="0"/>
              <a:cs typeface="Times New Roman" panose="02020603050405020304" pitchFamily="18" charset="0"/>
            </a:endParaRPr>
          </a:p>
          <a:p>
            <a:pPr>
              <a:lnSpc>
                <a:spcPct val="150000"/>
              </a:lnSpc>
            </a:pPr>
            <a:endParaRPr lang="en-US" altLang="en-GB"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84311" y="0"/>
            <a:ext cx="10018713" cy="1752599"/>
          </a:xfrm>
        </p:spPr>
        <p:txBody>
          <a:bodyPr/>
          <a:p>
            <a:r>
              <a:rPr lang="en-IN" sz="2400" b="1" dirty="0">
                <a:solidFill>
                  <a:srgbClr val="FF0000"/>
                </a:solidFill>
                <a:latin typeface="Times New Roman" panose="02020603050405020304" pitchFamily="18" charset="0"/>
                <a:cs typeface="Times New Roman" panose="02020603050405020304" pitchFamily="18" charset="0"/>
                <a:sym typeface="+mn-ea"/>
              </a:rPr>
              <a:t>Problem Identification</a:t>
            </a:r>
            <a:endParaRPr lang="en-GB" altLang="en-US" sz="2400"/>
          </a:p>
        </p:txBody>
      </p:sp>
      <p:sp>
        <p:nvSpPr>
          <p:cNvPr id="3" name="Content Placeholder 2"/>
          <p:cNvSpPr>
            <a:spLocks noGrp="1"/>
          </p:cNvSpPr>
          <p:nvPr>
            <p:ph idx="1"/>
          </p:nvPr>
        </p:nvSpPr>
        <p:spPr>
          <a:xfrm>
            <a:off x="1484310" y="1752599"/>
            <a:ext cx="10018713" cy="3124201"/>
          </a:xfrm>
        </p:spPr>
        <p:txBody>
          <a:bodyPr>
            <a:noAutofit/>
          </a:bodyPr>
          <a:p>
            <a:pPr marL="0" indent="0">
              <a:lnSpc>
                <a:spcPct val="150000"/>
              </a:lnSpc>
              <a:buNone/>
            </a:pPr>
            <a:r>
              <a:rPr lang="en-US" altLang="en-GB" sz="1800">
                <a:latin typeface="Times New Roman" panose="02020603050405020304" pitchFamily="18" charset="0"/>
                <a:cs typeface="Times New Roman" panose="02020603050405020304" pitchFamily="18" charset="0"/>
              </a:rPr>
              <a:t>The core problem addressed in this project arises from the inefficiencies and limitations of traditional carry-select adder (CSLA) architectures, which rely on irreversible logic and suffer from high energy dissipation, making them unsuitable for low-power or quantum-based applications. While reversible logic offers theoretical zero energy loss by preserving information flow, existing reversible CSLA designs lack effective pipelining mechanisms, resulting in suboptimal delay, scalability, and resource utilization. Additionally, many designs overlook the integration of power optimization techniques, which are essential for enhancing performance in modern digital systems. This project identifies the need for a quantum-compatible, power-efficient CSLA structure that supports high-speed computation, minimizes quantum cost and propagation delay, and incorporates scalability for n-bit operations—addressing the gaps left by conventional and prior reversible logic designs.</a:t>
            </a:r>
            <a:endParaRPr lang="en-US" altLang="en-GB"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84311" y="0"/>
            <a:ext cx="10018713" cy="1752599"/>
          </a:xfrm>
        </p:spPr>
        <p:txBody>
          <a:bodyPr/>
          <a:p>
            <a:r>
              <a:rPr lang="en-US" sz="2400" b="1" dirty="0">
                <a:solidFill>
                  <a:srgbClr val="FF0000"/>
                </a:solidFill>
                <a:latin typeface="Times New Roman" panose="02020603050405020304" pitchFamily="18" charset="0"/>
                <a:cs typeface="Times New Roman" panose="02020603050405020304" pitchFamily="18" charset="0"/>
                <a:sym typeface="+mn-ea"/>
              </a:rPr>
              <a:t>Proposed System</a:t>
            </a:r>
            <a:endParaRPr lang="en-GB" altLang="en-US" sz="2400"/>
          </a:p>
        </p:txBody>
      </p:sp>
      <p:sp>
        <p:nvSpPr>
          <p:cNvPr id="3" name="Content Placeholder 2"/>
          <p:cNvSpPr>
            <a:spLocks noGrp="1"/>
          </p:cNvSpPr>
          <p:nvPr>
            <p:ph idx="1"/>
          </p:nvPr>
        </p:nvSpPr>
        <p:spPr>
          <a:xfrm>
            <a:off x="1483995" y="1548130"/>
            <a:ext cx="10019030" cy="3615690"/>
          </a:xfrm>
        </p:spPr>
        <p:txBody>
          <a:bodyPr>
            <a:noAutofit/>
          </a:bodyPr>
          <a:p>
            <a:pPr marL="0" indent="0">
              <a:lnSpc>
                <a:spcPct val="150000"/>
              </a:lnSpc>
              <a:buNone/>
            </a:pPr>
            <a:r>
              <a:rPr lang="en-IN" altLang="en-US" sz="1800">
                <a:latin typeface="Times New Roman" panose="02020603050405020304" pitchFamily="18" charset="0"/>
                <a:cs typeface="Times New Roman" panose="02020603050405020304" pitchFamily="18" charset="0"/>
              </a:rPr>
              <a:t>The design </a:t>
            </a:r>
            <a:r>
              <a:rPr lang="en-US" altLang="en-GB" sz="1800">
                <a:latin typeface="Times New Roman" panose="02020603050405020304" pitchFamily="18" charset="0"/>
                <a:cs typeface="Times New Roman" panose="02020603050405020304" pitchFamily="18" charset="0"/>
              </a:rPr>
              <a:t>involves the development, simulation, and comparative evaluation of the five CSLA architectures with a focus on logical correctness, scalability, and optimization trade-offs. Each design is assessed for quantum cost, propagation delay, area utilization, and suitability for integration in quantum-compatible systems. </a:t>
            </a:r>
            <a:r>
              <a:rPr lang="en-IN" altLang="en-US" sz="1800">
                <a:latin typeface="Times New Roman" panose="02020603050405020304" pitchFamily="18" charset="0"/>
                <a:cs typeface="Times New Roman" panose="02020603050405020304" pitchFamily="18" charset="0"/>
              </a:rPr>
              <a:t>Further</a:t>
            </a:r>
            <a:r>
              <a:rPr lang="en-US" altLang="en-GB" sz="1800">
                <a:latin typeface="Times New Roman" panose="02020603050405020304" pitchFamily="18" charset="0"/>
                <a:cs typeface="Times New Roman" panose="02020603050405020304" pitchFamily="18" charset="0"/>
              </a:rPr>
              <a:t>, the most effective CSLA model undergoes targeted refinement through power optimization techniques such as clock gating or logic restructuring. This aims to reduce switching activity, lower energy consumption, or improve timing performance. </a:t>
            </a:r>
            <a:endParaRPr lang="en-US" altLang="en-GB" sz="1800">
              <a:latin typeface="Times New Roman" panose="02020603050405020304" pitchFamily="18" charset="0"/>
              <a:cs typeface="Times New Roman" panose="02020603050405020304" pitchFamily="18" charset="0"/>
            </a:endParaRPr>
          </a:p>
          <a:p>
            <a:pPr marL="0" indent="0">
              <a:lnSpc>
                <a:spcPct val="150000"/>
              </a:lnSpc>
              <a:buNone/>
            </a:pPr>
            <a:r>
              <a:rPr lang="en-US" altLang="en-GB" sz="1800">
                <a:latin typeface="Times New Roman" panose="02020603050405020304" pitchFamily="18" charset="0"/>
                <a:cs typeface="Times New Roman" panose="02020603050405020304" pitchFamily="18" charset="0"/>
              </a:rPr>
              <a:t>The enhanced design is re-simulated to validate its effectiveness, thereby achieving improved operational efficiency while maintaining quantum logic integrity—ultimately contributing to the advancement of energy-conscious, high-performance digital arithmetic for emerging quantum computing domains.</a:t>
            </a:r>
            <a:endParaRPr lang="en-US" altLang="en-GB"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0"/>
            <a:ext cx="10018713" cy="1272209"/>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ABSTRACT</a:t>
            </a:r>
            <a:endParaRPr lang="en-IN"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84310" y="1139686"/>
            <a:ext cx="10018713" cy="4797288"/>
          </a:xfrm>
        </p:spPr>
        <p:txBody>
          <a:bodyPr>
            <a:normAutofit lnSpcReduction="10000"/>
          </a:bodyPr>
          <a:lstStyle/>
          <a:p>
            <a:pPr marL="0" indent="457200" algn="just">
              <a:lnSpc>
                <a:spcPct val="150000"/>
              </a:lnSpc>
              <a:buClr>
                <a:srgbClr val="00B0F0"/>
              </a:buClr>
              <a:buSzPct val="100000"/>
              <a:buFont typeface="Wingdings" panose="05000000000000000000" pitchFamily="2" charset="2"/>
              <a:buNone/>
            </a:pPr>
            <a:r>
              <a:rPr lang="en-US" altLang="en-GB" sz="1800" dirty="0">
                <a:latin typeface="Times New Roman" panose="02020603050405020304" pitchFamily="18" charset="0"/>
                <a:cs typeface="Times New Roman" panose="02020603050405020304" pitchFamily="18" charset="0"/>
              </a:rPr>
              <a:t>To improve computational performance and reduce power or delay, this study applies pipelining to the design of reversible logic-based arithmetic adders, offering an energy-efficient alternative to classical computing. Reversible logic is especially suited for quantum computing applications like cryptography and natural language processing due to its ability to minimize energy loss by preventing thermal dissipation. This work introduces five novel reversible carry-select adder (CSLA) designs based on quantum and reversible logic principles, evaluated for speed, quantum cost, and area efficiency. Designed to support scalable n-bit operations, these adders are compared against existing approaches. Among them, an optimized pipelined reversible adder is proposed, effectively reducing quantum propagation delay while achieving a strong trade-off between performance and</a:t>
            </a:r>
            <a:r>
              <a:rPr lang="" altLang="en-US" sz="1800" dirty="0">
                <a:latin typeface="Times New Roman" panose="02020603050405020304" pitchFamily="18" charset="0"/>
                <a:cs typeface="Times New Roman" panose="02020603050405020304" pitchFamily="18" charset="0"/>
              </a:rPr>
              <a:t> </a:t>
            </a:r>
            <a:r>
              <a:rPr lang="en-US" altLang="en-GB" sz="1800" dirty="0">
                <a:latin typeface="Times New Roman" panose="02020603050405020304" pitchFamily="18" charset="0"/>
                <a:cs typeface="Times New Roman" panose="02020603050405020304" pitchFamily="18" charset="0"/>
              </a:rPr>
              <a:t>quantum</a:t>
            </a:r>
            <a:r>
              <a:rPr lang="" altLang="en-US" sz="1800" dirty="0">
                <a:latin typeface="Times New Roman" panose="02020603050405020304" pitchFamily="18" charset="0"/>
                <a:cs typeface="Times New Roman" panose="02020603050405020304" pitchFamily="18" charset="0"/>
              </a:rPr>
              <a:t> </a:t>
            </a:r>
            <a:r>
              <a:rPr lang="en-US" altLang="en-GB" sz="1800" dirty="0">
                <a:latin typeface="Times New Roman" panose="02020603050405020304" pitchFamily="18" charset="0"/>
                <a:cs typeface="Times New Roman" panose="02020603050405020304" pitchFamily="18" charset="0"/>
              </a:rPr>
              <a:t>cost.</a:t>
            </a:r>
            <a:endParaRPr lang="en-US" altLang="en-GB"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1"/>
            <a:ext cx="10018713" cy="1378226"/>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BLOCK DIAGRAM</a:t>
            </a:r>
            <a:endParaRPr lang="en-IN" sz="2400" b="1" dirty="0">
              <a:solidFill>
                <a:srgbClr val="FF0000"/>
              </a:solidFill>
              <a:latin typeface="Times New Roman" panose="02020603050405020304" pitchFamily="18" charset="0"/>
              <a:cs typeface="Times New Roman" panose="02020603050405020304" pitchFamily="18" charset="0"/>
            </a:endParaRPr>
          </a:p>
        </p:txBody>
      </p:sp>
      <p:pic>
        <p:nvPicPr>
          <p:cNvPr id="1059" name="Picture 1059"/>
          <p:cNvPicPr>
            <a:picLocks noChangeAspect="1"/>
          </p:cNvPicPr>
          <p:nvPr>
            <p:ph idx="1"/>
          </p:nvPr>
        </p:nvPicPr>
        <p:blipFill>
          <a:blip r:embed="rId1"/>
          <a:stretch>
            <a:fillRect/>
          </a:stretch>
        </p:blipFill>
        <p:spPr>
          <a:xfrm>
            <a:off x="1634490" y="1510030"/>
            <a:ext cx="10015220" cy="426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71281" y="0"/>
            <a:ext cx="10018713" cy="1752599"/>
          </a:xfrm>
        </p:spPr>
        <p:txBody>
          <a:bodyPr>
            <a:normAutofit/>
          </a:bodyPr>
          <a:p>
            <a:r>
              <a:rPr lang="en-IN" sz="2400" b="1" dirty="0">
                <a:solidFill>
                  <a:srgbClr val="FF0000"/>
                </a:solidFill>
                <a:latin typeface="Times New Roman" panose="02020603050405020304" pitchFamily="18" charset="0"/>
                <a:cs typeface="Times New Roman" panose="02020603050405020304" pitchFamily="18" charset="0"/>
                <a:sym typeface="+mn-ea"/>
              </a:rPr>
              <a:t>Advantages</a:t>
            </a:r>
            <a:endParaRPr lang="en-GB" altLang="en-US" sz="2400"/>
          </a:p>
        </p:txBody>
      </p:sp>
      <p:sp>
        <p:nvSpPr>
          <p:cNvPr id="3" name="Content Placeholder 2"/>
          <p:cNvSpPr>
            <a:spLocks noGrp="1"/>
          </p:cNvSpPr>
          <p:nvPr>
            <p:ph idx="1"/>
          </p:nvPr>
        </p:nvSpPr>
        <p:spPr>
          <a:xfrm>
            <a:off x="1690685" y="1485264"/>
            <a:ext cx="10018713" cy="3124201"/>
          </a:xfrm>
        </p:spPr>
        <p:txBody>
          <a:bodyPr>
            <a:normAutofit lnSpcReduction="10000"/>
          </a:bodyPr>
          <a:p>
            <a:pPr>
              <a:lnSpc>
                <a:spcPct val="150000"/>
              </a:lnSpc>
            </a:pPr>
            <a:r>
              <a:rPr lang="en-US" altLang="en-GB" sz="1800">
                <a:latin typeface="Times New Roman" panose="02020603050405020304" pitchFamily="18" charset="0"/>
                <a:cs typeface="Times New Roman" panose="02020603050405020304" pitchFamily="18" charset="0"/>
              </a:rPr>
              <a:t>Reversible logic minimizes energy loss by preventing thermal dissipation.</a:t>
            </a:r>
            <a:endParaRPr lang="en-US" altLang="en-GB" sz="1800">
              <a:latin typeface="Times New Roman" panose="02020603050405020304" pitchFamily="18" charset="0"/>
              <a:cs typeface="Times New Roman" panose="02020603050405020304" pitchFamily="18" charset="0"/>
            </a:endParaRPr>
          </a:p>
          <a:p>
            <a:pPr>
              <a:lnSpc>
                <a:spcPct val="150000"/>
              </a:lnSpc>
            </a:pPr>
            <a:r>
              <a:rPr lang="en-US" altLang="en-GB" sz="1800">
                <a:latin typeface="Times New Roman" panose="02020603050405020304" pitchFamily="18" charset="0"/>
                <a:cs typeface="Times New Roman" panose="02020603050405020304" pitchFamily="18" charset="0"/>
              </a:rPr>
              <a:t>CSLA architecture accelerates computation through parallel execution.</a:t>
            </a:r>
            <a:endParaRPr lang="en-US" altLang="en-GB" sz="1800">
              <a:latin typeface="Times New Roman" panose="02020603050405020304" pitchFamily="18" charset="0"/>
              <a:cs typeface="Times New Roman" panose="02020603050405020304" pitchFamily="18" charset="0"/>
            </a:endParaRPr>
          </a:p>
          <a:p>
            <a:pPr>
              <a:lnSpc>
                <a:spcPct val="150000"/>
              </a:lnSpc>
            </a:pPr>
            <a:r>
              <a:rPr lang="en-US" altLang="en-GB" sz="1800">
                <a:latin typeface="Times New Roman" panose="02020603050405020304" pitchFamily="18" charset="0"/>
                <a:cs typeface="Times New Roman" panose="02020603050405020304" pitchFamily="18" charset="0"/>
              </a:rPr>
              <a:t>The proposed structures balance speed, quantum cost, and area efficiency.</a:t>
            </a:r>
            <a:endParaRPr lang="en-US" altLang="en-GB" sz="1800">
              <a:latin typeface="Times New Roman" panose="02020603050405020304" pitchFamily="18" charset="0"/>
              <a:cs typeface="Times New Roman" panose="02020603050405020304" pitchFamily="18" charset="0"/>
            </a:endParaRPr>
          </a:p>
          <a:p>
            <a:pPr>
              <a:lnSpc>
                <a:spcPct val="150000"/>
              </a:lnSpc>
            </a:pPr>
            <a:r>
              <a:rPr lang="en-US" altLang="en-GB" sz="1800">
                <a:latin typeface="Times New Roman" panose="02020603050405020304" pitchFamily="18" charset="0"/>
                <a:cs typeface="Times New Roman" panose="02020603050405020304" pitchFamily="18" charset="0"/>
              </a:rPr>
              <a:t>Square root CSLA design significantly reduces carry propagation delay.</a:t>
            </a:r>
            <a:endParaRPr lang="en-US" altLang="en-GB" sz="1800">
              <a:latin typeface="Times New Roman" panose="02020603050405020304" pitchFamily="18" charset="0"/>
              <a:cs typeface="Times New Roman" panose="02020603050405020304" pitchFamily="18" charset="0"/>
            </a:endParaRPr>
          </a:p>
          <a:p>
            <a:pPr>
              <a:lnSpc>
                <a:spcPct val="150000"/>
              </a:lnSpc>
            </a:pPr>
            <a:r>
              <a:rPr lang="en-US" altLang="en-GB" sz="1800">
                <a:latin typeface="Times New Roman" panose="02020603050405020304" pitchFamily="18" charset="0"/>
                <a:cs typeface="Times New Roman" panose="02020603050405020304" pitchFamily="18" charset="0"/>
              </a:rPr>
              <a:t>Quantum Binary-to-Excess-One (QBEC) modules enhance speed and logical performance in quantum circuits.</a:t>
            </a:r>
            <a:endParaRPr lang="en-US" altLang="en-GB" sz="1800">
              <a:latin typeface="Times New Roman" panose="02020603050405020304" pitchFamily="18" charset="0"/>
              <a:cs typeface="Times New Roman" panose="02020603050405020304" pitchFamily="18" charset="0"/>
            </a:endParaRPr>
          </a:p>
          <a:p>
            <a:pPr>
              <a:lnSpc>
                <a:spcPct val="150000"/>
              </a:lnSpc>
            </a:pPr>
            <a:endParaRPr lang="en-US" altLang="en-GB"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84311" y="0"/>
            <a:ext cx="10018713" cy="1752599"/>
          </a:xfrm>
        </p:spPr>
        <p:txBody>
          <a:bodyPr/>
          <a:p>
            <a:r>
              <a:rPr lang="en-US" sz="2400" b="1" dirty="0">
                <a:solidFill>
                  <a:srgbClr val="FF0000"/>
                </a:solidFill>
                <a:latin typeface="Times New Roman" panose="02020603050405020304" pitchFamily="18" charset="0"/>
                <a:cs typeface="Times New Roman" panose="02020603050405020304" pitchFamily="18" charset="0"/>
                <a:sym typeface="+mn-ea"/>
              </a:rPr>
              <a:t>Applications</a:t>
            </a:r>
            <a:endParaRPr lang="en-GB" altLang="en-US" sz="2400"/>
          </a:p>
        </p:txBody>
      </p:sp>
      <p:sp>
        <p:nvSpPr>
          <p:cNvPr id="3" name="Content Placeholder 2"/>
          <p:cNvSpPr>
            <a:spLocks noGrp="1"/>
          </p:cNvSpPr>
          <p:nvPr>
            <p:ph idx="1"/>
          </p:nvPr>
        </p:nvSpPr>
        <p:spPr>
          <a:xfrm>
            <a:off x="1484310" y="2060574"/>
            <a:ext cx="10018713" cy="3124201"/>
          </a:xfrm>
        </p:spPr>
        <p:txBody>
          <a:bodyPr>
            <a:noAutofit/>
          </a:bodyPr>
          <a:p>
            <a:pPr>
              <a:lnSpc>
                <a:spcPct val="150000"/>
              </a:lnSpc>
            </a:pPr>
            <a:r>
              <a:rPr lang="en-US" altLang="en-GB" sz="1700" b="1">
                <a:latin typeface="Times New Roman" panose="02020603050405020304" pitchFamily="18" charset="0"/>
                <a:cs typeface="Times New Roman" panose="02020603050405020304" pitchFamily="18" charset="0"/>
              </a:rPr>
              <a:t>Quantum Computing Platforms –</a:t>
            </a:r>
            <a:r>
              <a:rPr lang="en-US" altLang="en-GB" sz="1700">
                <a:latin typeface="Times New Roman" panose="02020603050405020304" pitchFamily="18" charset="0"/>
                <a:cs typeface="Times New Roman" panose="02020603050405020304" pitchFamily="18" charset="0"/>
              </a:rPr>
              <a:t> Enables low-power and reversible arithmetic essential for quantum processors.</a:t>
            </a:r>
            <a:endParaRPr lang="en-US" altLang="en-GB" sz="1700">
              <a:latin typeface="Times New Roman" panose="02020603050405020304" pitchFamily="18" charset="0"/>
              <a:cs typeface="Times New Roman" panose="02020603050405020304" pitchFamily="18" charset="0"/>
            </a:endParaRPr>
          </a:p>
          <a:p>
            <a:pPr>
              <a:lnSpc>
                <a:spcPct val="150000"/>
              </a:lnSpc>
            </a:pPr>
            <a:r>
              <a:rPr lang="en-US" altLang="en-GB" sz="1700" b="1">
                <a:latin typeface="Times New Roman" panose="02020603050405020304" pitchFamily="18" charset="0"/>
                <a:cs typeface="Times New Roman" panose="02020603050405020304" pitchFamily="18" charset="0"/>
              </a:rPr>
              <a:t>Cryptographic Hardware –</a:t>
            </a:r>
            <a:r>
              <a:rPr lang="en-US" altLang="en-GB" sz="1700">
                <a:latin typeface="Times New Roman" panose="02020603050405020304" pitchFamily="18" charset="0"/>
                <a:cs typeface="Times New Roman" panose="02020603050405020304" pitchFamily="18" charset="0"/>
              </a:rPr>
              <a:t> Supports secure and efficient computation for encryption and decryption operations.</a:t>
            </a:r>
            <a:endParaRPr lang="en-US" altLang="en-GB" sz="1700">
              <a:latin typeface="Times New Roman" panose="02020603050405020304" pitchFamily="18" charset="0"/>
              <a:cs typeface="Times New Roman" panose="02020603050405020304" pitchFamily="18" charset="0"/>
            </a:endParaRPr>
          </a:p>
          <a:p>
            <a:pPr>
              <a:lnSpc>
                <a:spcPct val="150000"/>
              </a:lnSpc>
            </a:pPr>
            <a:r>
              <a:rPr lang="en-US" altLang="en-GB" sz="1700" b="1">
                <a:latin typeface="Times New Roman" panose="02020603050405020304" pitchFamily="18" charset="0"/>
                <a:cs typeface="Times New Roman" panose="02020603050405020304" pitchFamily="18" charset="0"/>
              </a:rPr>
              <a:t>Digital Signal Processing (DSP) – </a:t>
            </a:r>
            <a:r>
              <a:rPr lang="en-US" altLang="en-GB" sz="1700">
                <a:latin typeface="Times New Roman" panose="02020603050405020304" pitchFamily="18" charset="0"/>
                <a:cs typeface="Times New Roman" panose="02020603050405020304" pitchFamily="18" charset="0"/>
              </a:rPr>
              <a:t>Improves real-time performance in audio, video, and sensor signal analysis.</a:t>
            </a:r>
            <a:endParaRPr lang="en-US" altLang="en-GB" sz="1700">
              <a:latin typeface="Times New Roman" panose="02020603050405020304" pitchFamily="18" charset="0"/>
              <a:cs typeface="Times New Roman" panose="02020603050405020304" pitchFamily="18" charset="0"/>
            </a:endParaRPr>
          </a:p>
          <a:p>
            <a:pPr>
              <a:lnSpc>
                <a:spcPct val="150000"/>
              </a:lnSpc>
            </a:pPr>
            <a:r>
              <a:rPr lang="en-US" altLang="en-GB" sz="1700" b="1">
                <a:latin typeface="Times New Roman" panose="02020603050405020304" pitchFamily="18" charset="0"/>
                <a:cs typeface="Times New Roman" panose="02020603050405020304" pitchFamily="18" charset="0"/>
              </a:rPr>
              <a:t>Embedded Systems –</a:t>
            </a:r>
            <a:r>
              <a:rPr lang="en-US" altLang="en-GB" sz="1700">
                <a:latin typeface="Times New Roman" panose="02020603050405020304" pitchFamily="18" charset="0"/>
                <a:cs typeface="Times New Roman" panose="02020603050405020304" pitchFamily="18" charset="0"/>
              </a:rPr>
              <a:t> Optimizes resource usage and energy efficiency in microcontroller-based devices.</a:t>
            </a:r>
            <a:endParaRPr lang="en-US" altLang="en-GB" sz="1700">
              <a:latin typeface="Times New Roman" panose="02020603050405020304" pitchFamily="18" charset="0"/>
              <a:cs typeface="Times New Roman" panose="02020603050405020304" pitchFamily="18" charset="0"/>
            </a:endParaRPr>
          </a:p>
          <a:p>
            <a:pPr>
              <a:lnSpc>
                <a:spcPct val="150000"/>
              </a:lnSpc>
            </a:pPr>
            <a:r>
              <a:rPr lang="en-US" altLang="en-GB" sz="1700" b="1">
                <a:latin typeface="Times New Roman" panose="02020603050405020304" pitchFamily="18" charset="0"/>
                <a:cs typeface="Times New Roman" panose="02020603050405020304" pitchFamily="18" charset="0"/>
              </a:rPr>
              <a:t>IoT Hardware –</a:t>
            </a:r>
            <a:r>
              <a:rPr lang="en-US" altLang="en-GB" sz="1700">
                <a:latin typeface="Times New Roman" panose="02020603050405020304" pitchFamily="18" charset="0"/>
                <a:cs typeface="Times New Roman" panose="02020603050405020304" pitchFamily="18" charset="0"/>
              </a:rPr>
              <a:t> Enhances computation speed and reduces power in smart and connected devices.</a:t>
            </a:r>
            <a:endParaRPr lang="en-US" altLang="en-GB" sz="1700">
              <a:latin typeface="Times New Roman" panose="02020603050405020304" pitchFamily="18" charset="0"/>
              <a:cs typeface="Times New Roman" panose="02020603050405020304" pitchFamily="18" charset="0"/>
            </a:endParaRPr>
          </a:p>
          <a:p>
            <a:pPr>
              <a:lnSpc>
                <a:spcPct val="150000"/>
              </a:lnSpc>
            </a:pPr>
            <a:r>
              <a:rPr lang="en-US" altLang="en-GB" sz="1700" b="1">
                <a:latin typeface="Times New Roman" panose="02020603050405020304" pitchFamily="18" charset="0"/>
                <a:cs typeface="Times New Roman" panose="02020603050405020304" pitchFamily="18" charset="0"/>
              </a:rPr>
              <a:t>Educational Tools – </a:t>
            </a:r>
            <a:r>
              <a:rPr lang="en-US" altLang="en-GB" sz="1700">
                <a:latin typeface="Times New Roman" panose="02020603050405020304" pitchFamily="18" charset="0"/>
                <a:cs typeface="Times New Roman" panose="02020603050405020304" pitchFamily="18" charset="0"/>
              </a:rPr>
              <a:t>Facilitates hands-on learning in quantum-aware VLSI and reversible logic design.</a:t>
            </a:r>
            <a:endParaRPr lang="en-US" altLang="en-GB" sz="1700">
              <a:latin typeface="Times New Roman" panose="02020603050405020304" pitchFamily="18" charset="0"/>
              <a:cs typeface="Times New Roman" panose="02020603050405020304" pitchFamily="18" charset="0"/>
            </a:endParaRPr>
          </a:p>
          <a:p>
            <a:pPr>
              <a:lnSpc>
                <a:spcPct val="150000"/>
              </a:lnSpc>
              <a:buFont typeface="Wingdings" panose="05000000000000000000" charset="0"/>
              <a:buChar char="Ø"/>
            </a:pPr>
            <a:endParaRPr lang="en-US" altLang="en-GB" sz="150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483995" y="1587500"/>
            <a:ext cx="10019030" cy="4203700"/>
          </a:xfrm>
        </p:spPr>
        <p:txBody>
          <a:bodyPr/>
          <a:p>
            <a:pPr marL="0" indent="0" algn="ctr">
              <a:buNone/>
            </a:pPr>
            <a:r>
              <a:rPr lang="en-US" sz="6000" b="1" dirty="0">
                <a:solidFill>
                  <a:srgbClr val="FF0000"/>
                </a:solidFill>
                <a:latin typeface="Times New Roman" panose="02020603050405020304" pitchFamily="18" charset="0"/>
                <a:cs typeface="Times New Roman" panose="02020603050405020304" pitchFamily="18" charset="0"/>
                <a:sym typeface="+mn-ea"/>
              </a:rPr>
              <a:t>Thank </a:t>
            </a:r>
            <a:r>
              <a:rPr lang="en-IN" altLang="en-US" sz="6000" b="1" dirty="0">
                <a:solidFill>
                  <a:srgbClr val="FF0000"/>
                </a:solidFill>
                <a:latin typeface="Times New Roman" panose="02020603050405020304" pitchFamily="18" charset="0"/>
                <a:cs typeface="Times New Roman" panose="02020603050405020304" pitchFamily="18" charset="0"/>
                <a:sym typeface="+mn-ea"/>
              </a:rPr>
              <a:t>Y</a:t>
            </a:r>
            <a:r>
              <a:rPr lang="en-US" sz="6000" b="1" dirty="0">
                <a:solidFill>
                  <a:srgbClr val="FF0000"/>
                </a:solidFill>
                <a:latin typeface="Times New Roman" panose="02020603050405020304" pitchFamily="18" charset="0"/>
                <a:cs typeface="Times New Roman" panose="02020603050405020304" pitchFamily="18" charset="0"/>
                <a:sym typeface="+mn-ea"/>
              </a:rPr>
              <a:t>ou...</a:t>
            </a:r>
            <a:endParaRPr lang="en-IN" sz="6000" b="1" dirty="0">
              <a:solidFill>
                <a:srgbClr val="FF0000"/>
              </a:solidFill>
              <a:latin typeface="Times New Roman" panose="02020603050405020304" pitchFamily="18" charset="0"/>
              <a:cs typeface="Times New Roman" panose="02020603050405020304" pitchFamily="18" charset="0"/>
            </a:endParaRPr>
          </a:p>
          <a:p>
            <a:endParaRPr lang="en-GB" altLang="en-US" sz="600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0</TotalTime>
  <Words>5775</Words>
  <Application>WPS Presentation</Application>
  <PresentationFormat>Widescreen</PresentationFormat>
  <Paragraphs>85</Paragraphs>
  <Slides>11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vt:i4>
      </vt:variant>
    </vt:vector>
  </HeadingPairs>
  <TitlesOfParts>
    <vt:vector size="24" baseType="lpstr">
      <vt:lpstr>Arial</vt:lpstr>
      <vt:lpstr>SimSun</vt:lpstr>
      <vt:lpstr>Wingdings</vt:lpstr>
      <vt:lpstr>Arial</vt:lpstr>
      <vt:lpstr>Times New Roman</vt:lpstr>
      <vt:lpstr>Calibri</vt:lpstr>
      <vt:lpstr>Wingdings</vt:lpstr>
      <vt:lpstr>Corbel</vt:lpstr>
      <vt:lpstr>Microsoft YaHei</vt:lpstr>
      <vt:lpstr>Arial Unicode MS</vt:lpstr>
      <vt:lpstr>华文楷体</vt:lpstr>
      <vt:lpstr>Algerian</vt:lpstr>
      <vt:lpstr>Parallax</vt:lpstr>
      <vt:lpstr>PowerPoint 演示文稿</vt:lpstr>
      <vt:lpstr>PowerPoint 演示文稿</vt:lpstr>
      <vt:lpstr>OBJECTIVES</vt:lpstr>
      <vt:lpstr>Existing System</vt:lpstr>
      <vt:lpstr>Problem Identification</vt:lpstr>
      <vt:lpstr>Proposed System</vt:lpstr>
      <vt:lpstr>ABSTRACT</vt:lpstr>
      <vt:lpstr>BLOCK DIAGRAM</vt:lpstr>
      <vt:lpstr>Advantages</vt:lpstr>
      <vt:lpstr>Applications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Mallikarjuna Kummari</dc:creator>
  <cp:lastModifiedBy>Sai Karthik Reddy Kuppireddy</cp:lastModifiedBy>
  <cp:revision>9</cp:revision>
  <dcterms:created xsi:type="dcterms:W3CDTF">2025-02-16T11:14:00Z</dcterms:created>
  <dcterms:modified xsi:type="dcterms:W3CDTF">2025-07-18T20:02:34Z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B22429B676E749C1BC7134D84C73D719_12</vt:lpwstr>
  </property>
  <property fmtid="{D5CDD505-2E9C-101B-9397-08002B2CF9AE}" pid="3" name="KSOProductBuildVer">
    <vt:lpwstr>2057-12.2.0.21936</vt:lpwstr>
  </property>
</Properties>
</file>