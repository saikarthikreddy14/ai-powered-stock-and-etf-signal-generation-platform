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8" r:id="rId7"/>
    <p:sldId id="269" r:id="rId8"/>
    <p:sldId id="270" r:id="rId9"/>
    <p:sldId id="260" r:id="rId10"/>
    <p:sldId id="271" r:id="rId11"/>
    <p:sldId id="272" r:id="rId12"/>
    <p:sldId id="281" r:id="rId13"/>
    <p:sldId id="273" r:id="rId14"/>
    <p:sldId id="274" r:id="rId15"/>
    <p:sldId id="283" r:id="rId16"/>
    <p:sldId id="278" r:id="rId17"/>
    <p:sldId id="279" r:id="rId18"/>
    <p:sldId id="280" r:id="rId19"/>
    <p:sldId id="26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44"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hyperlink" Target="mailto:deanacademics@tkrec.ac.in" TargetMode="Externa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253582" y="4703365"/>
            <a:ext cx="6992396" cy="1535179"/>
          </a:xfrm>
        </p:spPr>
        <p:txBody>
          <a:bodyPr>
            <a:noAutofit/>
          </a:bodyPr>
          <a:lstStyle/>
          <a:p>
            <a:pPr algn="l"/>
            <a:r>
              <a:rPr lang="en-US" sz="1800" b="0" dirty="0">
                <a:solidFill>
                  <a:schemeClr val="accent6"/>
                </a:solidFill>
                <a:latin typeface="Times New Roman" panose="02020603050405020304" pitchFamily="18" charset="0"/>
                <a:cs typeface="Times New Roman" panose="02020603050405020304" pitchFamily="18" charset="0"/>
              </a:rPr>
              <a:t>22R91A04D7     SAI KARTHIK REDDY.K</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22R91A04H6     SAIKIRAN.N</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22R91A04G1     PRAVALIKA.M</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22R91A04E8      CHANDRAMOHAN REDDY.M </a:t>
            </a:r>
            <a:endParaRPr lang="en-IN" sz="1800" dirty="0">
              <a:latin typeface="Times New Roman" panose="02020603050405020304" pitchFamily="18" charset="0"/>
              <a:cs typeface="Times New Roman" panose="02020603050405020304" pitchFamily="18" charset="0"/>
            </a:endParaRPr>
          </a:p>
          <a:p>
            <a:pPr algn="l"/>
            <a:endParaRPr lang="en-US" sz="1800" b="0" dirty="0">
              <a:solidFill>
                <a:schemeClr val="accent6"/>
              </a:solidFill>
              <a:latin typeface="Times New Roman" panose="02020603050405020304" pitchFamily="18" charset="0"/>
              <a:cs typeface="Times New Roman" panose="02020603050405020304" pitchFamily="18" charset="0"/>
            </a:endParaRPr>
          </a:p>
          <a:p>
            <a:r>
              <a:rPr lang="en-US" sz="1800" b="0" dirty="0">
                <a:solidFill>
                  <a:schemeClr val="accent6"/>
                </a:solidFill>
                <a:latin typeface="Times New Roman" panose="02020603050405020304" pitchFamily="18" charset="0"/>
                <a:cs typeface="Times New Roman" panose="02020603050405020304" pitchFamily="18" charset="0"/>
              </a:rPr>
              <a:t>. </a:t>
            </a:r>
            <a:endParaRPr lang="en-IN" sz="1800" dirty="0"/>
          </a:p>
        </p:txBody>
      </p:sp>
      <p:pic>
        <p:nvPicPr>
          <p:cNvPr id="4" name="Picture 8"/>
          <p:cNvPicPr>
            <a:picLocks noChangeAspect="1"/>
          </p:cNvPicPr>
          <p:nvPr/>
        </p:nvPicPr>
        <p:blipFill>
          <a:blip r:embed="rId1"/>
          <a:stretch>
            <a:fillRect/>
          </a:stretch>
        </p:blipFill>
        <p:spPr>
          <a:xfrm>
            <a:off x="90908" y="162797"/>
            <a:ext cx="1313821" cy="1440709"/>
          </a:xfrm>
          <a:prstGeom prst="rect">
            <a:avLst/>
          </a:prstGeom>
        </p:spPr>
      </p:pic>
      <p:sp>
        <p:nvSpPr>
          <p:cNvPr id="6" name="TextBox 5"/>
          <p:cNvSpPr txBox="1"/>
          <p:nvPr/>
        </p:nvSpPr>
        <p:spPr>
          <a:xfrm>
            <a:off x="1404730" y="0"/>
            <a:ext cx="9345050" cy="2000548"/>
          </a:xfrm>
          <a:prstGeom prst="rect">
            <a:avLst/>
          </a:prstGeom>
          <a:noFill/>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              TEEGALA KRISHNA REDDY ENGINEERING COLLEGE</a:t>
            </a:r>
            <a:endParaRPr lang="en-IN" sz="2400" dirty="0">
              <a:solidFill>
                <a:srgbClr val="FF0000"/>
              </a:solidFill>
              <a:latin typeface="Times New Roman" panose="02020603050405020304" pitchFamily="18" charset="0"/>
              <a:cs typeface="Times New Roman" panose="02020603050405020304" pitchFamily="18" charset="0"/>
            </a:endParaRPr>
          </a:p>
          <a:p>
            <a:pPr algn="ctr"/>
            <a:r>
              <a:rPr lang="en-IN" sz="2000" dirty="0">
                <a:solidFill>
                  <a:schemeClr val="tx1">
                    <a:lumMod val="50000"/>
                    <a:lumOff val="50000"/>
                  </a:schemeClr>
                </a:solidFill>
                <a:latin typeface="Times New Roman" panose="02020603050405020304" pitchFamily="18" charset="0"/>
                <a:cs typeface="Times New Roman" panose="02020603050405020304" pitchFamily="18" charset="0"/>
              </a:rPr>
              <a:t>(UGC-Autonomous)</a:t>
            </a:r>
            <a:endParaRPr lang="en-IN" sz="20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Approved by AICTE, Affiliated by JNTUH, Accredited by NAAC- ‘A’ Grade</a:t>
            </a:r>
            <a:endParaRPr lang="en-IN" sz="1400" dirty="0">
              <a:latin typeface="Times New Roman" panose="02020603050405020304" pitchFamily="18" charset="0"/>
              <a:cs typeface="Times New Roman" panose="02020603050405020304" pitchFamily="18" charset="0"/>
            </a:endParaRPr>
          </a:p>
          <a:p>
            <a:pPr algn="ctr"/>
            <a:r>
              <a:rPr lang="en-IN" sz="1400" dirty="0" err="1">
                <a:latin typeface="Times New Roman" panose="02020603050405020304" pitchFamily="18" charset="0"/>
                <a:cs typeface="Times New Roman" panose="02020603050405020304" pitchFamily="18" charset="0"/>
              </a:rPr>
              <a:t>Medbowli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Meerpet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Balapur</a:t>
            </a:r>
            <a:r>
              <a:rPr lang="en-IN" sz="1400" dirty="0">
                <a:latin typeface="Times New Roman" panose="02020603050405020304" pitchFamily="18" charset="0"/>
                <a:cs typeface="Times New Roman" panose="02020603050405020304" pitchFamily="18" charset="0"/>
              </a:rPr>
              <a:t>, Hyderabad, Telangana- 500097</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Mob: 9393959597. Email: info@tkrec.ac.in, </a:t>
            </a:r>
            <a:r>
              <a:rPr lang="en-IN" sz="1400" dirty="0">
                <a:latin typeface="Times New Roman" panose="02020603050405020304" pitchFamily="18" charset="0"/>
                <a:cs typeface="Times New Roman" panose="02020603050405020304" pitchFamily="18" charset="0"/>
                <a:hlinkClick r:id="rId2"/>
              </a:rPr>
              <a:t>deanacademics@tkrec.ac.in</a:t>
            </a:r>
            <a:endParaRPr lang="en-IN" sz="14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DEPARTMENT OF ELECTRONICS AND COMMUNICATION ENGINEERING                </a:t>
            </a:r>
            <a:endParaRPr lang="en-IN" dirty="0">
              <a:latin typeface="Times New Roman" panose="02020603050405020304" pitchFamily="18" charset="0"/>
              <a:cs typeface="Times New Roman" panose="02020603050405020304" pitchFamily="18" charset="0"/>
            </a:endParaRPr>
          </a:p>
        </p:txBody>
      </p:sp>
      <p:pic>
        <p:nvPicPr>
          <p:cNvPr id="7" name="Picture 10"/>
          <p:cNvPicPr>
            <a:picLocks noChangeAspect="1"/>
          </p:cNvPicPr>
          <p:nvPr/>
        </p:nvPicPr>
        <p:blipFill>
          <a:blip r:embed="rId3"/>
          <a:stretch>
            <a:fillRect/>
          </a:stretch>
        </p:blipFill>
        <p:spPr>
          <a:xfrm>
            <a:off x="10601739" y="162798"/>
            <a:ext cx="1499352" cy="1440709"/>
          </a:xfrm>
          <a:prstGeom prst="rect">
            <a:avLst/>
          </a:prstGeom>
        </p:spPr>
      </p:pic>
      <p:cxnSp>
        <p:nvCxnSpPr>
          <p:cNvPr id="10" name="Straight Connector 9"/>
          <p:cNvCxnSpPr/>
          <p:nvPr/>
        </p:nvCxnSpPr>
        <p:spPr>
          <a:xfrm>
            <a:off x="1736035" y="1934817"/>
            <a:ext cx="1017766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64904" y="1934817"/>
            <a:ext cx="8401877" cy="1569660"/>
          </a:xfrm>
          <a:prstGeom prst="rect">
            <a:avLst/>
          </a:prstGeom>
          <a:noFill/>
        </p:spPr>
        <p:txBody>
          <a:bodyPr wrap="square">
            <a:spAutoFit/>
          </a:bodyPr>
          <a:lstStyle/>
          <a:p>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Batch No.03</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solidFill>
                  <a:srgbClr val="00B0F0"/>
                </a:solidFill>
                <a:latin typeface="Times New Roman" panose="02020603050405020304" pitchFamily="18" charset="0"/>
                <a:cs typeface="Times New Roman" panose="02020603050405020304" pitchFamily="18" charset="0"/>
              </a:rPr>
              <a:t>DESIGN AND IMPLEMENTATION OF HIGH SPEED</a:t>
            </a:r>
            <a:endParaRPr lang="en-US" sz="2400" b="1" dirty="0">
              <a:solidFill>
                <a:srgbClr val="00B0F0"/>
              </a:solidFill>
              <a:latin typeface="Times New Roman" panose="02020603050405020304" pitchFamily="18" charset="0"/>
              <a:cs typeface="Times New Roman" panose="02020603050405020304" pitchFamily="18" charset="0"/>
            </a:endParaRPr>
          </a:p>
          <a:p>
            <a:r>
              <a:rPr lang="en-US" sz="2400" b="1" dirty="0">
                <a:solidFill>
                  <a:srgbClr val="00B0F0"/>
                </a:solidFill>
                <a:latin typeface="Times New Roman" panose="02020603050405020304" pitchFamily="18" charset="0"/>
                <a:cs typeface="Times New Roman" panose="02020603050405020304" pitchFamily="18" charset="0"/>
              </a:rPr>
              <a:t> 32-BIT VEDIC MULTIPLIER USING VERILOG </a:t>
            </a:r>
            <a:r>
              <a:rPr lang="en-US"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HDL</a:t>
            </a:r>
            <a:endParaRPr lang="en-IN" b="1" dirty="0">
              <a:solidFill>
                <a:srgbClr val="00B0F0"/>
              </a:solidFill>
            </a:endParaRPr>
          </a:p>
        </p:txBody>
      </p:sp>
      <p:sp>
        <p:nvSpPr>
          <p:cNvPr id="16" name="TextBox 15"/>
          <p:cNvSpPr txBox="1"/>
          <p:nvPr/>
        </p:nvSpPr>
        <p:spPr>
          <a:xfrm>
            <a:off x="4351017" y="4303050"/>
            <a:ext cx="6096000" cy="369332"/>
          </a:xfrm>
          <a:prstGeom prst="rect">
            <a:avLst/>
          </a:prstGeom>
          <a:noFill/>
        </p:spPr>
        <p:txBody>
          <a:bodyPr wrap="square">
            <a:spAutoFit/>
          </a:bodyPr>
          <a:lstStyle/>
          <a:p>
            <a:pPr algn="r"/>
            <a:r>
              <a:rPr lang="en-US" sz="1800" b="1" u="sng" dirty="0">
                <a:solidFill>
                  <a:schemeClr val="accent6"/>
                </a:solidFill>
                <a:latin typeface="Times New Roman" panose="02020603050405020304" pitchFamily="18" charset="0"/>
                <a:cs typeface="Times New Roman" panose="02020603050405020304" pitchFamily="18" charset="0"/>
              </a:rPr>
              <a:t>TEAM MEMBERS :-</a:t>
            </a:r>
            <a:endParaRPr lang="en-US" sz="1800" b="1" u="sng" dirty="0">
              <a:solidFill>
                <a:schemeClr val="accent6"/>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93833" y="5771873"/>
            <a:ext cx="3498574" cy="923330"/>
          </a:xfrm>
          <a:prstGeom prst="rect">
            <a:avLst/>
          </a:prstGeom>
          <a:noFill/>
        </p:spPr>
        <p:txBody>
          <a:bodyPr wrap="square">
            <a:spAutoFit/>
          </a:bodyPr>
          <a:lstStyle/>
          <a:p>
            <a:pPr algn="ctr"/>
            <a:r>
              <a:rPr lang="en-US" b="1" dirty="0">
                <a:solidFill>
                  <a:schemeClr val="tx1"/>
                </a:solidFill>
                <a:latin typeface="Times New Roman" panose="02020603050405020304" pitchFamily="18" charset="0"/>
                <a:cs typeface="Times New Roman" panose="02020603050405020304" pitchFamily="18" charset="0"/>
              </a:rPr>
              <a:t>GUIDED  BY:-</a:t>
            </a:r>
            <a:endParaRPr lang="en-US" b="1" dirty="0">
              <a:solidFill>
                <a:schemeClr val="tx1"/>
              </a:solidFill>
              <a:latin typeface="Times New Roman" panose="02020603050405020304" pitchFamily="18" charset="0"/>
              <a:cs typeface="Times New Roman" panose="02020603050405020304" pitchFamily="18" charset="0"/>
            </a:endParaRPr>
          </a:p>
          <a:p>
            <a:pPr algn="ctr"/>
            <a:r>
              <a:rPr lang="en-IN" dirty="0"/>
              <a:t>Mr M.V.V.SATYA CHOWDARY</a:t>
            </a: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(ASSISTANT PROFESSOR)</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6085" y="1076960"/>
            <a:ext cx="10019030" cy="4598035"/>
          </a:xfrm>
        </p:spPr>
        <p:txBody>
          <a:bodyPr>
            <a:normAutofit fontScale="80000"/>
          </a:bodyPr>
          <a:lstStyle/>
          <a:p>
            <a:pPr marL="0" indent="0">
              <a:spcAft>
                <a:spcPts val="0"/>
              </a:spcAft>
              <a:buNone/>
            </a:pPr>
            <a:r>
              <a:rPr lang="en-US" sz="2000" dirty="0">
                <a:latin typeface="Times New Roman" panose="02020603050405020304" pitchFamily="18" charset="0"/>
                <a:cs typeface="Times New Roman" panose="02020603050405020304" pitchFamily="18" charset="0"/>
              </a:rPr>
              <a:t>1. OBJECTIVE</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2. ABSTRACT</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3. EXISTING SYSTEM</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4. PROBLEM IDENTIFICATION</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5. PROPOSED SYSTEM</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6. BLOCK DIAGRAM</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7. WORKING PRINCIPLE</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IN" altLang="en-US" sz="2000" dirty="0">
                <a:latin typeface="Times New Roman" panose="02020603050405020304" pitchFamily="18" charset="0"/>
                <a:cs typeface="Times New Roman" panose="02020603050405020304" pitchFamily="18" charset="0"/>
              </a:rPr>
              <a:t>8</a:t>
            </a:r>
            <a:r>
              <a:rPr lang="en-US" sz="2000" dirty="0">
                <a:latin typeface="Times New Roman" panose="02020603050405020304" pitchFamily="18" charset="0"/>
                <a:cs typeface="Times New Roman" panose="02020603050405020304" pitchFamily="18" charset="0"/>
              </a:rPr>
              <a:t>. SCHEMATIC DIAGRAM</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IN" altLang="en-US" sz="2000" dirty="0">
                <a:latin typeface="Times New Roman" panose="02020603050405020304" pitchFamily="18" charset="0"/>
                <a:cs typeface="Times New Roman" panose="02020603050405020304" pitchFamily="18" charset="0"/>
              </a:rPr>
              <a:t>9</a:t>
            </a:r>
            <a:r>
              <a:rPr lang="en-US" sz="2000" dirty="0">
                <a:latin typeface="Times New Roman" panose="02020603050405020304" pitchFamily="18" charset="0"/>
                <a:cs typeface="Times New Roman" panose="02020603050405020304" pitchFamily="18" charset="0"/>
              </a:rPr>
              <a:t>. EXPLANATION</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a:t>
            </a:r>
            <a:r>
              <a:rPr lang="en-US" altLang="en-IN" sz="2000" dirty="0">
                <a:latin typeface="Times New Roman" panose="02020603050405020304" pitchFamily="18" charset="0"/>
                <a:cs typeface="Times New Roman" panose="02020603050405020304" pitchFamily="18" charset="0"/>
              </a:rPr>
              <a:t>ADVANTAGES</a:t>
            </a:r>
            <a:endParaRPr lang="en-US" altLang="en-IN" sz="2000" dirty="0">
              <a:latin typeface="Times New Roman" panose="02020603050405020304" pitchFamily="18" charset="0"/>
              <a:cs typeface="Times New Roman" panose="02020603050405020304" pitchFamily="18" charset="0"/>
            </a:endParaRPr>
          </a:p>
          <a:p>
            <a:pPr marL="0" indent="0">
              <a:spcAft>
                <a:spcPts val="0"/>
              </a:spcAft>
              <a:buNone/>
            </a:pPr>
            <a:r>
              <a:rPr lang="en-US" altLang="en-IN"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1</a:t>
            </a:r>
            <a:r>
              <a:rPr lang="en-US" altLang="en-IN" sz="2000" dirty="0">
                <a:latin typeface="Times New Roman" panose="02020603050405020304" pitchFamily="18" charset="0"/>
                <a:cs typeface="Times New Roman" panose="02020603050405020304" pitchFamily="18" charset="0"/>
              </a:rPr>
              <a:t>. APPLICATIONS </a:t>
            </a:r>
            <a:endParaRPr lang="zh-CN" alt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r>
              <a:rPr lang="en-US" altLang="en-IN" sz="2000" dirty="0">
                <a:latin typeface="Times New Roman" panose="02020603050405020304" pitchFamily="18" charset="0"/>
                <a:cs typeface="Times New Roman" panose="02020603050405020304" pitchFamily="18" charset="0"/>
              </a:rPr>
              <a:t>EXPECTED RESULT</a:t>
            </a:r>
            <a:endParaRPr lang="en-US" altLang="en-IN" sz="2000" dirty="0">
              <a:latin typeface="Times New Roman" panose="02020603050405020304" pitchFamily="18" charset="0"/>
              <a:cs typeface="Times New Roman" panose="02020603050405020304" pitchFamily="18" charset="0"/>
            </a:endParaRPr>
          </a:p>
          <a:p>
            <a:pPr marL="0" indent="0">
              <a:spcAft>
                <a:spcPts val="0"/>
              </a:spcAft>
              <a:buNone/>
            </a:pPr>
            <a:r>
              <a:rPr lang="en-US" altLang="en-IN"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3</a:t>
            </a:r>
            <a:r>
              <a:rPr lang="en-US" altLang="en-IN" sz="2000" dirty="0">
                <a:latin typeface="Times New Roman" panose="02020603050405020304" pitchFamily="18" charset="0"/>
                <a:cs typeface="Times New Roman" panose="02020603050405020304" pitchFamily="18" charset="0"/>
              </a:rPr>
              <a:t>. CONCLUSION</a:t>
            </a:r>
            <a:endParaRPr lang="en-US" altLang="en-IN" sz="2000" dirty="0">
              <a:latin typeface="Times New Roman" panose="02020603050405020304" pitchFamily="18" charset="0"/>
              <a:cs typeface="Times New Roman" panose="02020603050405020304" pitchFamily="18" charset="0"/>
            </a:endParaRPr>
          </a:p>
          <a:p>
            <a:pPr marL="0" indent="0">
              <a:spcAft>
                <a:spcPts val="0"/>
              </a:spcAft>
              <a:buNone/>
            </a:pPr>
            <a:r>
              <a:rPr lang="en-US" altLang="en-IN"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4</a:t>
            </a:r>
            <a:r>
              <a:rPr lang="en-US" altLang="en-IN" sz="2000" dirty="0">
                <a:latin typeface="Times New Roman" panose="02020603050405020304" pitchFamily="18" charset="0"/>
                <a:cs typeface="Times New Roman" panose="02020603050405020304" pitchFamily="18" charset="0"/>
              </a:rPr>
              <a:t>. FUTURE SCOPE</a:t>
            </a:r>
            <a:endParaRPr lang="en-US" altLang="en-IN" sz="2000" dirty="0">
              <a:latin typeface="Times New Roman" panose="02020603050405020304" pitchFamily="18" charset="0"/>
              <a:cs typeface="Times New Roman" panose="02020603050405020304" pitchFamily="18" charset="0"/>
            </a:endParaRPr>
          </a:p>
          <a:p>
            <a:pPr marL="0" indent="0">
              <a:spcAft>
                <a:spcPts val="0"/>
              </a:spcAft>
              <a:buNone/>
            </a:pPr>
            <a:r>
              <a:rPr lang="en-US" altLang="en-IN" sz="2000" dirty="0">
                <a:latin typeface="Times New Roman" panose="02020603050405020304" pitchFamily="18" charset="0"/>
                <a:cs typeface="Times New Roman" panose="02020603050405020304" pitchFamily="18" charset="0"/>
              </a:rPr>
              <a:t>1</a:t>
            </a:r>
            <a:r>
              <a:rPr lang="en-IN" altLang="en-US" sz="2000" dirty="0">
                <a:latin typeface="Times New Roman" panose="02020603050405020304" pitchFamily="18" charset="0"/>
                <a:cs typeface="Times New Roman" panose="02020603050405020304" pitchFamily="18" charset="0"/>
              </a:rPr>
              <a:t>5</a:t>
            </a:r>
            <a:r>
              <a:rPr lang="en-US" altLang="en-IN" sz="2000" dirty="0">
                <a:latin typeface="Times New Roman" panose="02020603050405020304" pitchFamily="18" charset="0"/>
                <a:cs typeface="Times New Roman" panose="02020603050405020304" pitchFamily="18" charset="0"/>
              </a:rPr>
              <a:t>. REFERENCES</a:t>
            </a:r>
            <a:endParaRPr lang="zh-CN" altLang="en-US" sz="2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p:cNvSpPr txBox="1"/>
          <p:nvPr/>
        </p:nvSpPr>
        <p:spPr>
          <a:xfrm>
            <a:off x="1696345" y="427887"/>
            <a:ext cx="9104277" cy="461665"/>
          </a:xfrm>
          <a:prstGeom prst="rect">
            <a:avLst/>
          </a:prstGeom>
          <a:noFill/>
        </p:spPr>
        <p:txBody>
          <a:bodyPr wrap="square">
            <a:spAutoFit/>
          </a:bodyPr>
          <a:lstStyle/>
          <a:p>
            <a:pPr algn="ctr"/>
            <a:r>
              <a:rPr lang="en-GB" sz="2400" b="1" dirty="0">
                <a:solidFill>
                  <a:srgbClr val="FF0000"/>
                </a:solidFill>
                <a:latin typeface="Times New Roman" panose="02020603050405020304" pitchFamily="18" charset="0"/>
                <a:cs typeface="Times New Roman" panose="02020603050405020304" pitchFamily="18" charset="0"/>
              </a:rPr>
              <a:t>Table of Contents</a:t>
            </a:r>
            <a:endParaRPr lang="en-IN" sz="24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543" y="412956"/>
            <a:ext cx="10018713" cy="106680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OBJECTIVES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00620" y="-147483"/>
            <a:ext cx="10250490" cy="53848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Design a digital circuit that can perform multiplication of two 32-bit numbers using the Vedic multiplication algorithm.</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Implement the designed Vedic multiplier using Verilog HDL, a hardware description language.</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Optimize the design to achieve high-speed operation, minimizing the delay and maximizing the throughput.. </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0"/>
            <a:ext cx="10018713" cy="1272209"/>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ABSTRACT</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0" y="1139686"/>
            <a:ext cx="10018713" cy="4797288"/>
          </a:xfrm>
        </p:spPr>
        <p:txBody>
          <a:bodyPr>
            <a:normAutofit fontScale="92500" lnSpcReduction="10000"/>
          </a:bodyPr>
          <a:lstStyle/>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increasing demand for high-speed digital arithmetic operations in modern computing systems necessitates the development of efficient multiplication techniques.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work presents the design of a high- speed 32-bit binary Vedic multiplier based on the principles of ancient Vedic mathematics, particularly the Vedic Sutras. Vedic multiplication, renowned for its parallel processing capabilities, offers significant advantages over conventional multiplication techniques.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proposed design optimizes the addition and carry management stages, which are crucial for reducing the overall delay in the multiplication process, making it suitable for modern digital systems requiring high-speed arithmetic operations.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architecture of the 32-bit Vedic multiplier is implemented using Verilog Hardware Description Language (HDL), ensuring flexibility and scalability. The multiplier was simulated and synthesized using AMD </a:t>
            </a:r>
            <a:r>
              <a:rPr lang="en-US" sz="1800" dirty="0" err="1">
                <a:latin typeface="Times New Roman" panose="02020603050405020304" pitchFamily="18" charset="0"/>
                <a:cs typeface="Times New Roman" panose="02020603050405020304" pitchFamily="18" charset="0"/>
              </a:rPr>
              <a:t>Vivado</a:t>
            </a:r>
            <a:r>
              <a:rPr lang="en-US" sz="1800" dirty="0">
                <a:latin typeface="Times New Roman" panose="02020603050405020304" pitchFamily="18" charset="0"/>
                <a:cs typeface="Times New Roman" panose="02020603050405020304" pitchFamily="18" charset="0"/>
              </a:rPr>
              <a:t> to validate its performance in a simulated environment.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Simulation results show that the 32-bit Vedic multiplier significantly reduces time delay compared to conventional multiplier designs. Additionally, optimized resource utilization further enhances its performance.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design is scalable, allowing it to be extended to larger bit-widths for higher-order multiplications, which is particularly advantageous for applications in Digital Signal Processing (DSP), cryptography, and other computationally intensive tasks</a:t>
            </a:r>
            <a:r>
              <a:rPr lang="en-US" sz="14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26210" y="0"/>
            <a:ext cx="10019030" cy="1432560"/>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Existing System</a:t>
            </a:r>
            <a:endParaRPr lang="en-GB" altLang="en-US" sz="2400"/>
          </a:p>
        </p:txBody>
      </p:sp>
      <p:sp>
        <p:nvSpPr>
          <p:cNvPr id="3" name="Content Placeholder 2"/>
          <p:cNvSpPr>
            <a:spLocks noGrp="1"/>
          </p:cNvSpPr>
          <p:nvPr>
            <p:ph idx="1"/>
          </p:nvPr>
        </p:nvSpPr>
        <p:spPr>
          <a:xfrm>
            <a:off x="1484310" y="1781174"/>
            <a:ext cx="10018713" cy="3124201"/>
          </a:xfrm>
        </p:spPr>
        <p:txBody>
          <a:bodyPr/>
          <a:p>
            <a:pPr>
              <a:spcAft>
                <a:spcPts val="500"/>
              </a:spcAft>
            </a:pPr>
            <a:r>
              <a:rPr sz="1800" dirty="0">
                <a:latin typeface="Times New Roman" panose="02020603050405020304" pitchFamily="18" charset="0"/>
                <a:cs typeface="Times New Roman" panose="02020603050405020304" pitchFamily="18" charset="0"/>
                <a:sym typeface="+mn-ea"/>
              </a:rPr>
              <a:t>Traditional Vedic multipliers use Ripple Carry Adders (RCA) for partial product addition.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Limitations include:</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High propagation delay</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Inefficient hardware utilization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Difficulty in scaling for higher bit-widths</a:t>
            </a:r>
            <a:endParaRPr sz="1800" dirty="0">
              <a:latin typeface="Times New Roman" panose="02020603050405020304" pitchFamily="18" charset="0"/>
              <a:cs typeface="Times New Roman" panose="02020603050405020304" pitchFamily="18" charset="0"/>
            </a:endParaRPr>
          </a:p>
          <a:p>
            <a:endParaRPr lang="en-GB"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IN" sz="2400" b="1" dirty="0">
                <a:solidFill>
                  <a:srgbClr val="FF0000"/>
                </a:solidFill>
                <a:latin typeface="Times New Roman" panose="02020603050405020304" pitchFamily="18" charset="0"/>
                <a:cs typeface="Times New Roman" panose="02020603050405020304" pitchFamily="18" charset="0"/>
                <a:sym typeface="+mn-ea"/>
              </a:rPr>
              <a:t>Problem Identification</a:t>
            </a:r>
            <a:endParaRPr lang="en-GB" altLang="en-US" sz="2400"/>
          </a:p>
        </p:txBody>
      </p:sp>
      <p:sp>
        <p:nvSpPr>
          <p:cNvPr id="3" name="Content Placeholder 2"/>
          <p:cNvSpPr>
            <a:spLocks noGrp="1"/>
          </p:cNvSpPr>
          <p:nvPr>
            <p:ph idx="1"/>
          </p:nvPr>
        </p:nvSpPr>
        <p:spPr>
          <a:xfrm>
            <a:off x="1484310" y="1623059"/>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RCA-based Vedic multipliers suffer from:</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Increased critical path delay</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Inefficiency at larger data widths</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Unsuitability for high-speed real-time applications like DSP and encryption</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Proposed System</a:t>
            </a:r>
            <a:endParaRPr lang="en-GB" altLang="en-US" sz="2400"/>
          </a:p>
        </p:txBody>
      </p:sp>
      <p:sp>
        <p:nvSpPr>
          <p:cNvPr id="3" name="Content Placeholder 2"/>
          <p:cNvSpPr>
            <a:spLocks noGrp="1"/>
          </p:cNvSpPr>
          <p:nvPr>
            <p:ph idx="1"/>
          </p:nvPr>
        </p:nvSpPr>
        <p:spPr>
          <a:xfrm>
            <a:off x="1484310" y="1548129"/>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Replace RCAs with CSAs to reduce carry propagation delay.</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Modular design from 4-bit → 8-bit → 16-bit → 32-bit using hierarchical Vedic structure.</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OR operation replaces higher-bit RCA in final stage to reduce adder size.</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Uses 16-bit final adder for output stage.</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378226"/>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BLOCK DIAGRAM</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descr="A diagram of a block diagram&#10;&#10;AI-generated content may be incorrect."/>
          <p:cNvPicPr>
            <a:picLocks noGrp="1" noChangeAspect="1"/>
          </p:cNvPicPr>
          <p:nvPr>
            <p:ph idx="1"/>
          </p:nvPr>
        </p:nvPicPr>
        <p:blipFill>
          <a:blip r:embed="rId1"/>
          <a:stretch>
            <a:fillRect/>
          </a:stretch>
        </p:blipFill>
        <p:spPr>
          <a:xfrm>
            <a:off x="2041465" y="1111170"/>
            <a:ext cx="9074601" cy="4680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Working Principle</a:t>
            </a:r>
            <a:endParaRPr lang="en-GB" altLang="en-US" sz="2400"/>
          </a:p>
        </p:txBody>
      </p:sp>
      <p:sp>
        <p:nvSpPr>
          <p:cNvPr id="3" name="Content Placeholder 2"/>
          <p:cNvSpPr>
            <a:spLocks noGrp="1"/>
          </p:cNvSpPr>
          <p:nvPr>
            <p:ph idx="1"/>
          </p:nvPr>
        </p:nvSpPr>
        <p:spPr>
          <a:xfrm>
            <a:off x="1484310" y="1471294"/>
            <a:ext cx="10018713" cy="3124201"/>
          </a:xfrm>
        </p:spPr>
        <p:txBody>
          <a:bodyPr/>
          <a:p>
            <a:endParaRPr lang="en-GB" altLang="en-US" sz="1800">
              <a:latin typeface="Times New Roman" panose="02020603050405020304" pitchFamily="18" charset="0"/>
              <a:cs typeface="Times New Roman" panose="02020603050405020304" pitchFamily="18" charset="0"/>
            </a:endParaRPr>
          </a:p>
          <a:p>
            <a:pPr>
              <a:spcAft>
                <a:spcPts val="500"/>
              </a:spcAft>
            </a:pPr>
            <a:r>
              <a:rPr sz="1800">
                <a:latin typeface="Times New Roman" panose="02020603050405020304" pitchFamily="18" charset="0"/>
                <a:cs typeface="Times New Roman" panose="02020603050405020304" pitchFamily="18" charset="0"/>
                <a:sym typeface="+mn-ea"/>
              </a:rPr>
              <a:t>1. Split inputs A[31:0] and B[31:0] into halves.</a:t>
            </a:r>
            <a:endParaRPr sz="1800">
              <a:latin typeface="Times New Roman" panose="02020603050405020304" pitchFamily="18" charset="0"/>
              <a:cs typeface="Times New Roman" panose="02020603050405020304" pitchFamily="18" charset="0"/>
              <a:sym typeface="+mn-ea"/>
            </a:endParaRPr>
          </a:p>
          <a:p>
            <a:pPr>
              <a:spcAft>
                <a:spcPts val="500"/>
              </a:spcAft>
            </a:pPr>
            <a:r>
              <a:rPr sz="1800">
                <a:latin typeface="Times New Roman" panose="02020603050405020304" pitchFamily="18" charset="0"/>
                <a:cs typeface="Times New Roman" panose="02020603050405020304" pitchFamily="18" charset="0"/>
                <a:sym typeface="+mn-ea"/>
              </a:rPr>
              <a:t>2. Compute 16-bit multiplications: m0, m1, m2, m3.</a:t>
            </a:r>
            <a:endParaRPr sz="1800">
              <a:latin typeface="Times New Roman" panose="02020603050405020304" pitchFamily="18" charset="0"/>
              <a:cs typeface="Times New Roman" panose="02020603050405020304" pitchFamily="18" charset="0"/>
              <a:sym typeface="+mn-ea"/>
            </a:endParaRPr>
          </a:p>
          <a:p>
            <a:pPr>
              <a:spcAft>
                <a:spcPts val="500"/>
              </a:spcAft>
            </a:pPr>
            <a:r>
              <a:rPr sz="1800">
                <a:latin typeface="Times New Roman" panose="02020603050405020304" pitchFamily="18" charset="0"/>
                <a:cs typeface="Times New Roman" panose="02020603050405020304" pitchFamily="18" charset="0"/>
                <a:sym typeface="+mn-ea"/>
              </a:rPr>
              <a:t>3. Use CSA to combine m1, m2, and high part of m0.</a:t>
            </a:r>
            <a:endParaRPr sz="1800">
              <a:latin typeface="Times New Roman" panose="02020603050405020304" pitchFamily="18" charset="0"/>
              <a:cs typeface="Times New Roman" panose="02020603050405020304" pitchFamily="18" charset="0"/>
              <a:sym typeface="+mn-ea"/>
            </a:endParaRPr>
          </a:p>
          <a:p>
            <a:pPr>
              <a:spcAft>
                <a:spcPts val="500"/>
              </a:spcAft>
            </a:pPr>
            <a:r>
              <a:rPr sz="1800">
                <a:latin typeface="Times New Roman" panose="02020603050405020304" pitchFamily="18" charset="0"/>
                <a:cs typeface="Times New Roman" panose="02020603050405020304" pitchFamily="18" charset="0"/>
                <a:sym typeface="+mn-ea"/>
              </a:rPr>
              <a:t>4. Use second CSA to combine output with m3 and carry.</a:t>
            </a:r>
            <a:endParaRPr sz="1800">
              <a:latin typeface="Times New Roman" panose="02020603050405020304" pitchFamily="18" charset="0"/>
              <a:cs typeface="Times New Roman" panose="02020603050405020304" pitchFamily="18" charset="0"/>
              <a:sym typeface="+mn-ea"/>
            </a:endParaRPr>
          </a:p>
          <a:p>
            <a:pPr>
              <a:spcAft>
                <a:spcPts val="500"/>
              </a:spcAft>
            </a:pPr>
            <a:r>
              <a:rPr sz="1800">
                <a:latin typeface="Times New Roman" panose="02020603050405020304" pitchFamily="18" charset="0"/>
                <a:cs typeface="Times New Roman" panose="02020603050405020304" pitchFamily="18" charset="0"/>
                <a:sym typeface="+mn-ea"/>
              </a:rPr>
              <a:t>5. Final result = m0 lower + CSA result + OR + 16-bit adder.</a:t>
            </a:r>
            <a:endParaRPr sz="1800">
              <a:latin typeface="Times New Roman" panose="02020603050405020304" pitchFamily="18" charset="0"/>
              <a:cs typeface="Times New Roman" panose="02020603050405020304" pitchFamily="18" charset="0"/>
              <a:sym typeface="+mn-ea"/>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IN" sz="2400" b="1" dirty="0">
                <a:solidFill>
                  <a:srgbClr val="FF0000"/>
                </a:solidFill>
                <a:latin typeface="Times New Roman" panose="02020603050405020304" pitchFamily="18" charset="0"/>
                <a:cs typeface="Times New Roman" panose="02020603050405020304" pitchFamily="18" charset="0"/>
                <a:sym typeface="+mn-ea"/>
              </a:rPr>
              <a:t>Schematic Diagram </a:t>
            </a:r>
            <a:endParaRPr lang="en-GB" altLang="en-US" sz="2400"/>
          </a:p>
        </p:txBody>
      </p:sp>
      <p:pic>
        <p:nvPicPr>
          <p:cNvPr id="5" name="Picture 4" descr="A computer screen shot of a computer diagram&#10;&#10;AI-generated content may be incorrect."/>
          <p:cNvPicPr>
            <a:picLocks noChangeAspect="1"/>
          </p:cNvPicPr>
          <p:nvPr/>
        </p:nvPicPr>
        <p:blipFill>
          <a:blip r:embed="rId1"/>
          <a:stretch>
            <a:fillRect/>
          </a:stretch>
        </p:blipFill>
        <p:spPr>
          <a:xfrm>
            <a:off x="1588589" y="1564912"/>
            <a:ext cx="9914210" cy="44469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3995" y="0"/>
            <a:ext cx="10019030" cy="1433830"/>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Explanation of Each Block</a:t>
            </a:r>
            <a:endParaRPr lang="en-GB" altLang="en-US" sz="2400"/>
          </a:p>
        </p:txBody>
      </p:sp>
      <p:sp>
        <p:nvSpPr>
          <p:cNvPr id="3" name="Content Placeholder 2"/>
          <p:cNvSpPr>
            <a:spLocks noGrp="1"/>
          </p:cNvSpPr>
          <p:nvPr>
            <p:ph idx="1"/>
          </p:nvPr>
        </p:nvSpPr>
        <p:spPr>
          <a:xfrm>
            <a:off x="1483995" y="2423160"/>
            <a:ext cx="10019030" cy="3987165"/>
          </a:xfrm>
        </p:spPr>
        <p:txBody>
          <a:bodyPr>
            <a:noAutofit/>
          </a:bodyPr>
          <a:p>
            <a:pPr>
              <a:buFont typeface="Wingdings" panose="05000000000000000000" charset="0"/>
              <a:buChar char="Ø"/>
            </a:pPr>
            <a:r>
              <a:rPr lang="en-US" altLang="en-GB" sz="1800">
                <a:latin typeface="Times New Roman" panose="02020603050405020304" pitchFamily="18" charset="0"/>
                <a:cs typeface="Times New Roman" panose="02020603050405020304" pitchFamily="18" charset="0"/>
              </a:rPr>
              <a:t> </a:t>
            </a:r>
            <a:r>
              <a:rPr lang="en-US" altLang="en-GB" sz="1800" b="1">
                <a:latin typeface="Times New Roman" panose="02020603050405020304" pitchFamily="18" charset="0"/>
                <a:cs typeface="Times New Roman" panose="02020603050405020304" pitchFamily="18" charset="0"/>
              </a:rPr>
              <a:t>Vedic Multiplier Blocks (V1, V2, V3, V0)</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These blocks perform multiplication of 16-bit inputs to produce 32-bit outputs. Each block is labeled with its specific input and output connections.</a:t>
            </a:r>
            <a:endParaRPr lang="en-US" altLang="en-GB"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altLang="en-US" sz="1800">
                <a:latin typeface="Times New Roman" panose="02020603050405020304" pitchFamily="18" charset="0"/>
                <a:cs typeface="Times New Roman" panose="02020603050405020304" pitchFamily="18" charset="0"/>
              </a:rPr>
              <a:t> </a:t>
            </a:r>
            <a:r>
              <a:rPr lang="en-US" altLang="en-GB" sz="1800" b="1">
                <a:latin typeface="Times New Roman" panose="02020603050405020304" pitchFamily="18" charset="0"/>
                <a:cs typeface="Times New Roman" panose="02020603050405020304" pitchFamily="18" charset="0"/>
              </a:rPr>
              <a:t>Carry-Save Adder Blocks (CSA1, CSA2)</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CSA1 and CSA2 are responsible for addition. They take multiple 32-bit inputs and produce outputs in the form of sum and carry, which streamline the computation process by avoiding ripple carry delays.</a:t>
            </a:r>
            <a:endParaRPr lang="en-US" altLang="en-GB"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GB" sz="1800">
                <a:latin typeface="Times New Roman" panose="02020603050405020304" pitchFamily="18" charset="0"/>
                <a:cs typeface="Times New Roman" panose="02020603050405020304" pitchFamily="18" charset="0"/>
              </a:rPr>
              <a:t> </a:t>
            </a:r>
            <a:r>
              <a:rPr lang="en-US" altLang="en-GB" sz="1800" b="1">
                <a:latin typeface="Times New Roman" panose="02020603050405020304" pitchFamily="18" charset="0"/>
                <a:cs typeface="Times New Roman" panose="02020603050405020304" pitchFamily="18" charset="0"/>
              </a:rPr>
              <a:t>RTL_LSHIFT Block</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This block carries out a left-shift operation on input data, adjusting the bits to a new position and effectively scaling the values.</a:t>
            </a:r>
            <a:endParaRPr lang="en-US" altLang="en-GB"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GB" sz="1800">
                <a:latin typeface="Times New Roman" panose="02020603050405020304" pitchFamily="18" charset="0"/>
                <a:cs typeface="Times New Roman" panose="02020603050405020304" pitchFamily="18" charset="0"/>
              </a:rPr>
              <a:t> </a:t>
            </a:r>
            <a:r>
              <a:rPr lang="en-US" altLang="en-GB" sz="1800" b="1">
                <a:latin typeface="Times New Roman" panose="02020603050405020304" pitchFamily="18" charset="0"/>
                <a:cs typeface="Times New Roman" panose="02020603050405020304" pitchFamily="18" charset="0"/>
              </a:rPr>
              <a:t>RTL_OR Block</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A bitwise OR operation is performed here. It combines inputs, retaining any bit that is set in at least one input.</a:t>
            </a:r>
            <a:endParaRPr lang="en-US" altLang="en-GB"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GB" sz="1800">
                <a:latin typeface="Times New Roman" panose="02020603050405020304" pitchFamily="18" charset="0"/>
                <a:cs typeface="Times New Roman" panose="02020603050405020304" pitchFamily="18" charset="0"/>
              </a:rPr>
              <a:t> </a:t>
            </a:r>
            <a:r>
              <a:rPr lang="en-US" altLang="en-GB" sz="1800" b="1">
                <a:latin typeface="Times New Roman" panose="02020603050405020304" pitchFamily="18" charset="0"/>
                <a:cs typeface="Times New Roman" panose="02020603050405020304" pitchFamily="18" charset="0"/>
              </a:rPr>
              <a:t>ADDER Block</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This block adds two 16-bit numbers together, producing a 16-bit result. Simple but crucial in smaller computation steps.</a:t>
            </a:r>
            <a:endParaRPr lang="en-US" altLang="en-GB" sz="18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GB" sz="1800" b="1">
                <a:latin typeface="Times New Roman" panose="02020603050405020304" pitchFamily="18" charset="0"/>
                <a:cs typeface="Times New Roman" panose="02020603050405020304" pitchFamily="18" charset="0"/>
              </a:rPr>
              <a:t> Output Block</a:t>
            </a:r>
            <a:r>
              <a:rPr lang="en-IN" altLang="en-US" sz="1800" b="1">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GB" sz="1800">
                <a:latin typeface="Times New Roman" panose="02020603050405020304" pitchFamily="18" charset="0"/>
                <a:cs typeface="Times New Roman" panose="02020603050405020304" pitchFamily="18" charset="0"/>
              </a:rPr>
              <a:t>It delivers the final result—a 64-bit outcome combining the processing of all prior blocks.</a:t>
            </a:r>
            <a:endParaRPr lang="en-US" altLang="en-GB" sz="1800">
              <a:latin typeface="Times New Roman" panose="02020603050405020304" pitchFamily="18" charset="0"/>
              <a:cs typeface="Times New Roman" panose="02020603050405020304" pitchFamily="18" charset="0"/>
            </a:endParaRPr>
          </a:p>
          <a:p>
            <a:pPr marL="0" indent="0">
              <a:buNone/>
            </a:pPr>
            <a:endParaRPr lang="en-US" altLang="en-GB" sz="1800">
              <a:latin typeface="Times New Roman" panose="02020603050405020304" pitchFamily="18" charset="0"/>
              <a:cs typeface="Times New Roman" panose="02020603050405020304" pitchFamily="18" charset="0"/>
            </a:endParaRPr>
          </a:p>
          <a:p>
            <a:pPr marL="0" indent="0">
              <a:buNone/>
            </a:pPr>
            <a:endParaRPr lang="en-US" altLang="en-GB" sz="1800">
              <a:latin typeface="Times New Roman" panose="02020603050405020304" pitchFamily="18" charset="0"/>
              <a:cs typeface="Times New Roman" panose="02020603050405020304" pitchFamily="18" charset="0"/>
            </a:endParaRPr>
          </a:p>
          <a:p>
            <a:pPr marL="0" indent="0">
              <a:buNone/>
            </a:pPr>
            <a:endParaRPr lang="en-US" altLang="en-GB" sz="1800">
              <a:latin typeface="Times New Roman" panose="02020603050405020304" pitchFamily="18" charset="0"/>
              <a:cs typeface="Times New Roman" panose="02020603050405020304" pitchFamily="18" charset="0"/>
            </a:endParaRPr>
          </a:p>
          <a:p>
            <a:pPr marL="0" indent="0">
              <a:buNone/>
            </a:pPr>
            <a:endParaRPr lang="en-US" altLang="en-GB"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281" y="0"/>
            <a:ext cx="10018713" cy="1752599"/>
          </a:xfrm>
        </p:spPr>
        <p:txBody>
          <a:bodyPr>
            <a:normAutofit/>
          </a:bodyPr>
          <a:p>
            <a:r>
              <a:rPr lang="en-IN" sz="2400" b="1" dirty="0">
                <a:solidFill>
                  <a:srgbClr val="FF0000"/>
                </a:solidFill>
                <a:latin typeface="Times New Roman" panose="02020603050405020304" pitchFamily="18" charset="0"/>
                <a:cs typeface="Times New Roman" panose="02020603050405020304" pitchFamily="18" charset="0"/>
                <a:sym typeface="+mn-ea"/>
              </a:rPr>
              <a:t>Advantages</a:t>
            </a:r>
            <a:endParaRPr lang="en-GB" altLang="en-US" sz="2400"/>
          </a:p>
        </p:txBody>
      </p:sp>
      <p:sp>
        <p:nvSpPr>
          <p:cNvPr id="3" name="Content Placeholder 2"/>
          <p:cNvSpPr>
            <a:spLocks noGrp="1"/>
          </p:cNvSpPr>
          <p:nvPr>
            <p:ph idx="1"/>
          </p:nvPr>
        </p:nvSpPr>
        <p:spPr>
          <a:xfrm>
            <a:off x="1690685" y="1485264"/>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Faster due to reduced carry propagation.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Scalable for higher-bit multipliers.</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Efficient partial product combination.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Lower delay</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Applications</a:t>
            </a:r>
            <a:endParaRPr lang="en-GB" altLang="en-US" sz="2400"/>
          </a:p>
        </p:txBody>
      </p:sp>
      <p:sp>
        <p:nvSpPr>
          <p:cNvPr id="3" name="Content Placeholder 2"/>
          <p:cNvSpPr>
            <a:spLocks noGrp="1"/>
          </p:cNvSpPr>
          <p:nvPr>
            <p:ph idx="1"/>
          </p:nvPr>
        </p:nvSpPr>
        <p:spPr>
          <a:xfrm>
            <a:off x="1484310" y="1510664"/>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Digital Signal Processing (DSP)</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Cryptography and Encryption Engines</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Scientific Computing and Simulation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Communication Systems and Protocols</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17348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EXPECTED RESULT</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2277101" y="681993"/>
            <a:ext cx="9782378" cy="4617719"/>
          </a:xfrm>
        </p:spPr>
        <p:txBody>
          <a:bodyPr>
            <a:normAutofit/>
          </a:bodyPr>
          <a:lstStyle/>
          <a:p>
            <a:pPr marR="0" lvl="0" algn="l" defTabSz="914400" rtl="0" eaLnBrk="0" fontAlgn="base" latinLnBrk="0" hangingPunct="0">
              <a:lnSpc>
                <a:spcPct val="150000"/>
              </a:lnSpc>
              <a:spcBef>
                <a:spcPct val="0"/>
              </a:spcBef>
              <a:spcAft>
                <a:spcPct val="0"/>
              </a:spcAft>
              <a:buClr>
                <a:srgbClr val="00B0F0"/>
              </a:buClr>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Carry </a:t>
            </a:r>
            <a:r>
              <a:rPr lang="en-US" altLang="en-US" sz="1800" dirty="0">
                <a:latin typeface="Times New Roman" panose="02020603050405020304" pitchFamily="18" charset="0"/>
                <a:cs typeface="Times New Roman" panose="02020603050405020304" pitchFamily="18" charset="0"/>
              </a:rPr>
              <a:t>Save Adders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CSAs) combine the intermediate results reduce carry propagation delay.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
                <a:srgbClr val="00B0F0"/>
              </a:buClr>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carry is added using a 16-bit adder.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
                <a:srgbClr val="00B0F0"/>
              </a:buClr>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64-bit product is divided into three parts: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S[63:48]</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S[47:16]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S[15:0]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normAutofit/>
          </a:bodyPr>
          <a:p>
            <a:r>
              <a:rPr lang="en-IN" sz="2400" b="1" dirty="0">
                <a:solidFill>
                  <a:srgbClr val="FF0000"/>
                </a:solidFill>
                <a:latin typeface="Times New Roman" panose="02020603050405020304" pitchFamily="18" charset="0"/>
                <a:cs typeface="Times New Roman" panose="02020603050405020304" pitchFamily="18" charset="0"/>
                <a:sym typeface="+mn-ea"/>
              </a:rPr>
              <a:t>Conclusion</a:t>
            </a:r>
            <a:endParaRPr lang="en-GB" altLang="en-US" sz="2400"/>
          </a:p>
        </p:txBody>
      </p:sp>
      <p:sp>
        <p:nvSpPr>
          <p:cNvPr id="3" name="Content Placeholder 2"/>
          <p:cNvSpPr>
            <a:spLocks noGrp="1"/>
          </p:cNvSpPr>
          <p:nvPr>
            <p:ph idx="1"/>
          </p:nvPr>
        </p:nvSpPr>
        <p:spPr>
          <a:xfrm>
            <a:off x="1334450" y="1752599"/>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The modified Vedic multiplier achieves:</a:t>
            </a:r>
            <a:endParaRPr sz="1800" dirty="0">
              <a:latin typeface="Times New Roman" panose="02020603050405020304" pitchFamily="18" charset="0"/>
              <a:cs typeface="Times New Roman" panose="02020603050405020304" pitchFamily="18" charset="0"/>
            </a:endParaRPr>
          </a:p>
          <a:p>
            <a:pPr lvl="1">
              <a:spcAft>
                <a:spcPts val="500"/>
              </a:spcAft>
            </a:pPr>
            <a:r>
              <a:rPr sz="1800" dirty="0">
                <a:latin typeface="Times New Roman" panose="02020603050405020304" pitchFamily="18" charset="0"/>
                <a:cs typeface="Times New Roman" panose="02020603050405020304" pitchFamily="18" charset="0"/>
                <a:sym typeface="+mn-ea"/>
              </a:rPr>
              <a:t> Reduced time delay</a:t>
            </a:r>
            <a:endParaRPr sz="1800" dirty="0">
              <a:latin typeface="Times New Roman" panose="02020603050405020304" pitchFamily="18" charset="0"/>
              <a:cs typeface="Times New Roman" panose="02020603050405020304" pitchFamily="18" charset="0"/>
            </a:endParaRPr>
          </a:p>
          <a:p>
            <a:pPr lvl="1">
              <a:spcAft>
                <a:spcPts val="500"/>
              </a:spcAft>
            </a:pPr>
            <a:r>
              <a:rPr sz="1800" dirty="0">
                <a:latin typeface="Times New Roman" panose="02020603050405020304" pitchFamily="18" charset="0"/>
                <a:cs typeface="Times New Roman" panose="02020603050405020304" pitchFamily="18" charset="0"/>
                <a:sym typeface="+mn-ea"/>
              </a:rPr>
              <a:t> Better performance for 32-bit inputs</a:t>
            </a:r>
            <a:endParaRPr sz="1800" dirty="0">
              <a:latin typeface="Times New Roman" panose="02020603050405020304" pitchFamily="18" charset="0"/>
              <a:cs typeface="Times New Roman" panose="02020603050405020304" pitchFamily="18" charset="0"/>
            </a:endParaRPr>
          </a:p>
          <a:p>
            <a:pPr lvl="1">
              <a:spcAft>
                <a:spcPts val="500"/>
              </a:spcAft>
            </a:pPr>
            <a:r>
              <a:rPr lang="en-US" sz="1800" dirty="0">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Suitable for real-time embedded and DSP systems</a:t>
            </a:r>
            <a:endParaRPr sz="1800" dirty="0">
              <a:latin typeface="Times New Roman" panose="02020603050405020304" pitchFamily="18" charset="0"/>
              <a:cs typeface="Times New Roman" panose="02020603050405020304" pitchFamily="18" charset="0"/>
            </a:endParaRPr>
          </a:p>
          <a:p>
            <a:pPr lvl="1">
              <a:spcAft>
                <a:spcPts val="500"/>
              </a:spcAft>
            </a:pPr>
            <a:r>
              <a:rPr sz="1800" dirty="0">
                <a:latin typeface="Times New Roman" panose="02020603050405020304" pitchFamily="18" charset="0"/>
                <a:cs typeface="Times New Roman" panose="02020603050405020304" pitchFamily="18" charset="0"/>
                <a:sym typeface="+mn-ea"/>
              </a:rPr>
              <a:t> Increase in area is acceptable trade-off</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IN" sz="2400" b="1" dirty="0">
                <a:solidFill>
                  <a:srgbClr val="FF0000"/>
                </a:solidFill>
                <a:latin typeface="Times New Roman" panose="02020603050405020304" pitchFamily="18" charset="0"/>
                <a:cs typeface="Times New Roman" panose="02020603050405020304" pitchFamily="18" charset="0"/>
                <a:sym typeface="+mn-ea"/>
              </a:rPr>
              <a:t>Future Scope</a:t>
            </a:r>
            <a:endParaRPr lang="en-GB" altLang="en-US" sz="2400"/>
          </a:p>
        </p:txBody>
      </p:sp>
      <p:sp>
        <p:nvSpPr>
          <p:cNvPr id="3" name="Content Placeholder 2"/>
          <p:cNvSpPr>
            <a:spLocks noGrp="1"/>
          </p:cNvSpPr>
          <p:nvPr>
            <p:ph idx="1"/>
          </p:nvPr>
        </p:nvSpPr>
        <p:spPr>
          <a:xfrm>
            <a:off x="1484310" y="1241424"/>
            <a:ext cx="10018713" cy="3124201"/>
          </a:xfrm>
        </p:spPr>
        <p:txBody>
          <a:bodyPr/>
          <a:p>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Extend design to 64-bit or floating-point multiplication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Implement on ASIC for better area optimization</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Explore hybrid adder structures like Carry Lookahead</a:t>
            </a:r>
            <a:endParaRPr sz="1800" dirty="0">
              <a:latin typeface="Times New Roman" panose="02020603050405020304" pitchFamily="18" charset="0"/>
              <a:cs typeface="Times New Roman" panose="02020603050405020304" pitchFamily="18" charset="0"/>
            </a:endParaRPr>
          </a:p>
          <a:p>
            <a:pPr>
              <a:spcAft>
                <a:spcPts val="500"/>
              </a:spcAft>
            </a:pPr>
            <a:r>
              <a:rPr sz="1800" dirty="0">
                <a:latin typeface="Times New Roman" panose="02020603050405020304" pitchFamily="18" charset="0"/>
                <a:cs typeface="Times New Roman" panose="02020603050405020304" pitchFamily="18" charset="0"/>
                <a:sym typeface="+mn-ea"/>
              </a:rPr>
              <a:t> Integrate into SoC multipliers and MAC units</a:t>
            </a:r>
            <a:endParaRPr sz="1800" dirty="0">
              <a:latin typeface="Times New Roman" panose="02020603050405020304" pitchFamily="18" charset="0"/>
              <a:cs typeface="Times New Roman" panose="02020603050405020304" pitchFamily="18" charset="0"/>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IN" sz="2400" b="1" dirty="0">
                <a:solidFill>
                  <a:srgbClr val="FF0000"/>
                </a:solidFill>
                <a:latin typeface="Times New Roman" panose="02020603050405020304" pitchFamily="18" charset="0"/>
                <a:cs typeface="Times New Roman" panose="02020603050405020304" pitchFamily="18" charset="0"/>
                <a:sym typeface="+mn-ea"/>
              </a:rPr>
              <a:t>References</a:t>
            </a:r>
            <a:endParaRPr lang="en-GB" altLang="en-US" sz="2400"/>
          </a:p>
        </p:txBody>
      </p:sp>
      <p:sp>
        <p:nvSpPr>
          <p:cNvPr id="3" name="Content Placeholder 2"/>
          <p:cNvSpPr>
            <a:spLocks noGrp="1"/>
          </p:cNvSpPr>
          <p:nvPr>
            <p:ph idx="1"/>
          </p:nvPr>
        </p:nvSpPr>
        <p:spPr>
          <a:xfrm>
            <a:off x="1483995" y="1991995"/>
            <a:ext cx="10019030" cy="4062095"/>
          </a:xfrm>
        </p:spPr>
        <p:txBody>
          <a:bodyPr>
            <a:noAutofit/>
          </a:bodyPr>
          <a:p>
            <a:pPr>
              <a:buFont typeface="+mj-lt"/>
              <a:buAutoNum type="arabicPeriod"/>
            </a:pPr>
            <a:r>
              <a:rPr lang="en-US" sz="1700" dirty="0">
                <a:latin typeface="Times New Roman" panose="02020603050405020304" pitchFamily="18" charset="0"/>
                <a:cs typeface="Times New Roman" panose="02020603050405020304" pitchFamily="18" charset="0"/>
                <a:sym typeface="+mn-ea"/>
              </a:rPr>
              <a:t>A. Khanam and S. </a:t>
            </a:r>
            <a:r>
              <a:rPr lang="en-US" sz="1700" dirty="0" err="1">
                <a:latin typeface="Times New Roman" panose="02020603050405020304" pitchFamily="18" charset="0"/>
                <a:cs typeface="Times New Roman" panose="02020603050405020304" pitchFamily="18" charset="0"/>
                <a:sym typeface="+mn-ea"/>
              </a:rPr>
              <a:t>Singarapu</a:t>
            </a:r>
            <a:r>
              <a:rPr lang="en-US" sz="1700" dirty="0">
                <a:latin typeface="Times New Roman" panose="02020603050405020304" pitchFamily="18" charset="0"/>
                <a:cs typeface="Times New Roman" panose="02020603050405020304" pitchFamily="18" charset="0"/>
                <a:sym typeface="+mn-ea"/>
              </a:rPr>
              <a:t>, “Modified High-Speed 32-Bit Vedic Multiplier Design and Implementation,” </a:t>
            </a:r>
            <a:r>
              <a:rPr lang="en-US" sz="1700" i="1" dirty="0">
                <a:latin typeface="Times New Roman" panose="02020603050405020304" pitchFamily="18" charset="0"/>
                <a:cs typeface="Times New Roman" panose="02020603050405020304" pitchFamily="18" charset="0"/>
                <a:sym typeface="+mn-ea"/>
              </a:rPr>
              <a:t>Dept. of ECE, Chaitanya (Deemed to be University), Warangal, India</a:t>
            </a:r>
            <a:r>
              <a:rPr lang="en-US" sz="1700" dirty="0">
                <a:latin typeface="Times New Roman" panose="02020603050405020304" pitchFamily="18" charset="0"/>
                <a:cs typeface="Times New Roman" panose="02020603050405020304" pitchFamily="18" charset="0"/>
                <a:sym typeface="+mn-ea"/>
              </a:rPr>
              <a:t>.</a:t>
            </a:r>
            <a:endParaRPr lang="en-US" sz="1700" dirty="0">
              <a:latin typeface="Times New Roman" panose="02020603050405020304" pitchFamily="18" charset="0"/>
              <a:cs typeface="Times New Roman" panose="02020603050405020304" pitchFamily="18" charset="0"/>
            </a:endParaRPr>
          </a:p>
          <a:p>
            <a:pPr>
              <a:buFont typeface="+mj-lt"/>
              <a:buAutoNum type="arabicPeriod"/>
            </a:pPr>
            <a:r>
              <a:rPr lang="en-US" sz="1700" dirty="0">
                <a:latin typeface="Times New Roman" panose="02020603050405020304" pitchFamily="18" charset="0"/>
                <a:cs typeface="Times New Roman" panose="02020603050405020304" pitchFamily="18" charset="0"/>
                <a:sym typeface="+mn-ea"/>
              </a:rPr>
              <a:t>K. Radha, S. Anuradha, R. Meghana, P. R. T. Reddy, and P. Hemanth, “FPGA Implementation of 32-Bit Vedic Multiplier Using Verilog HDL,” </a:t>
            </a:r>
            <a:r>
              <a:rPr lang="en-US" sz="1700" i="1" dirty="0">
                <a:latin typeface="Times New Roman" panose="02020603050405020304" pitchFamily="18" charset="0"/>
                <a:cs typeface="Times New Roman" panose="02020603050405020304" pitchFamily="18" charset="0"/>
                <a:sym typeface="+mn-ea"/>
              </a:rPr>
              <a:t>Dept. of ECE, Sir C R Reddy College of Engineering, </a:t>
            </a:r>
            <a:r>
              <a:rPr lang="en-US" sz="1700" i="1" dirty="0" err="1">
                <a:latin typeface="Times New Roman" panose="02020603050405020304" pitchFamily="18" charset="0"/>
                <a:cs typeface="Times New Roman" panose="02020603050405020304" pitchFamily="18" charset="0"/>
                <a:sym typeface="+mn-ea"/>
              </a:rPr>
              <a:t>Vatluru</a:t>
            </a:r>
            <a:r>
              <a:rPr lang="en-US" sz="1700" i="1" dirty="0">
                <a:latin typeface="Times New Roman" panose="02020603050405020304" pitchFamily="18" charset="0"/>
                <a:cs typeface="Times New Roman" panose="02020603050405020304" pitchFamily="18" charset="0"/>
                <a:sym typeface="+mn-ea"/>
              </a:rPr>
              <a:t>, </a:t>
            </a:r>
            <a:r>
              <a:rPr lang="en-US" sz="1700" i="1" dirty="0" err="1">
                <a:latin typeface="Times New Roman" panose="02020603050405020304" pitchFamily="18" charset="0"/>
                <a:cs typeface="Times New Roman" panose="02020603050405020304" pitchFamily="18" charset="0"/>
                <a:sym typeface="+mn-ea"/>
              </a:rPr>
              <a:t>Eluru</a:t>
            </a:r>
            <a:r>
              <a:rPr lang="en-US" sz="1700" i="1" dirty="0">
                <a:latin typeface="Times New Roman" panose="02020603050405020304" pitchFamily="18" charset="0"/>
                <a:cs typeface="Times New Roman" panose="02020603050405020304" pitchFamily="18" charset="0"/>
                <a:sym typeface="+mn-ea"/>
              </a:rPr>
              <a:t>, Andhra Pradesh – 534007, India</a:t>
            </a:r>
            <a:r>
              <a:rPr lang="en-US" sz="1700" dirty="0">
                <a:latin typeface="Times New Roman" panose="02020603050405020304" pitchFamily="18" charset="0"/>
                <a:cs typeface="Times New Roman" panose="02020603050405020304" pitchFamily="18" charset="0"/>
                <a:sym typeface="+mn-ea"/>
              </a:rPr>
              <a:t>.</a:t>
            </a:r>
            <a:endParaRPr lang="en-US" sz="1700" dirty="0">
              <a:latin typeface="Times New Roman" panose="02020603050405020304" pitchFamily="18" charset="0"/>
              <a:cs typeface="Times New Roman" panose="02020603050405020304" pitchFamily="18" charset="0"/>
            </a:endParaRPr>
          </a:p>
          <a:p>
            <a:pPr>
              <a:buFont typeface="+mj-lt"/>
              <a:buAutoNum type="arabicPeriod"/>
            </a:pPr>
            <a:r>
              <a:rPr lang="en-US" sz="1700" dirty="0">
                <a:latin typeface="Times New Roman" panose="02020603050405020304" pitchFamily="18" charset="0"/>
                <a:cs typeface="Times New Roman" panose="02020603050405020304" pitchFamily="18" charset="0"/>
                <a:sym typeface="+mn-ea"/>
              </a:rPr>
              <a:t>M. B. Murugesh and G. V. K. Reddy, “Modified High-Speed 32-bit Vedic Multiplier: Design and Implementation,” </a:t>
            </a:r>
            <a:r>
              <a:rPr lang="en-US" sz="1700" i="1" dirty="0">
                <a:latin typeface="Times New Roman" panose="02020603050405020304" pitchFamily="18" charset="0"/>
                <a:cs typeface="Times New Roman" panose="02020603050405020304" pitchFamily="18" charset="0"/>
                <a:sym typeface="+mn-ea"/>
              </a:rPr>
              <a:t>Dept. of ECE, SVCET, RVS Nagar, Chittoor, AP, India</a:t>
            </a:r>
            <a:r>
              <a:rPr lang="en-US" sz="1700" dirty="0">
                <a:latin typeface="Times New Roman" panose="02020603050405020304" pitchFamily="18" charset="0"/>
                <a:cs typeface="Times New Roman" panose="02020603050405020304" pitchFamily="18" charset="0"/>
                <a:sym typeface="+mn-ea"/>
              </a:rPr>
              <a:t>.</a:t>
            </a:r>
            <a:endParaRPr lang="en-US" sz="1700" dirty="0">
              <a:latin typeface="Times New Roman" panose="02020603050405020304" pitchFamily="18" charset="0"/>
              <a:cs typeface="Times New Roman" panose="02020603050405020304" pitchFamily="18" charset="0"/>
            </a:endParaRPr>
          </a:p>
          <a:p>
            <a:pPr>
              <a:buFont typeface="+mj-lt"/>
              <a:buAutoNum type="arabicPeriod"/>
            </a:pPr>
            <a:r>
              <a:rPr lang="en-US" sz="1700" dirty="0">
                <a:latin typeface="Times New Roman" panose="02020603050405020304" pitchFamily="18" charset="0"/>
                <a:cs typeface="Times New Roman" panose="02020603050405020304" pitchFamily="18" charset="0"/>
                <a:sym typeface="+mn-ea"/>
              </a:rPr>
              <a:t>N. K. Mishra and S. </a:t>
            </a:r>
            <a:r>
              <a:rPr lang="en-US" sz="1700" dirty="0" err="1">
                <a:latin typeface="Times New Roman" panose="02020603050405020304" pitchFamily="18" charset="0"/>
                <a:cs typeface="Times New Roman" panose="02020603050405020304" pitchFamily="18" charset="0"/>
                <a:sym typeface="+mn-ea"/>
              </a:rPr>
              <a:t>Wairya</a:t>
            </a:r>
            <a:r>
              <a:rPr lang="en-US" sz="1700" dirty="0">
                <a:latin typeface="Times New Roman" panose="02020603050405020304" pitchFamily="18" charset="0"/>
                <a:cs typeface="Times New Roman" panose="02020603050405020304" pitchFamily="18" charset="0"/>
                <a:sym typeface="+mn-ea"/>
              </a:rPr>
              <a:t>, “Low Power 32×32 Bit Multiplier Architecture Based on Vedic Mathematics Using </a:t>
            </a:r>
            <a:r>
              <a:rPr lang="en-US" sz="1700" dirty="0" err="1">
                <a:latin typeface="Times New Roman" panose="02020603050405020304" pitchFamily="18" charset="0"/>
                <a:cs typeface="Times New Roman" panose="02020603050405020304" pitchFamily="18" charset="0"/>
                <a:sym typeface="+mn-ea"/>
              </a:rPr>
              <a:t>Virtex</a:t>
            </a:r>
            <a:r>
              <a:rPr lang="en-US" sz="1700" dirty="0">
                <a:latin typeface="Times New Roman" panose="02020603050405020304" pitchFamily="18" charset="0"/>
                <a:cs typeface="Times New Roman" panose="02020603050405020304" pitchFamily="18" charset="0"/>
                <a:sym typeface="+mn-ea"/>
              </a:rPr>
              <a:t> 7 Low Power Device,” </a:t>
            </a:r>
            <a:r>
              <a:rPr lang="en-US" sz="1700" i="1" dirty="0">
                <a:latin typeface="Times New Roman" panose="02020603050405020304" pitchFamily="18" charset="0"/>
                <a:cs typeface="Times New Roman" panose="02020603050405020304" pitchFamily="18" charset="0"/>
                <a:sym typeface="+mn-ea"/>
              </a:rPr>
              <a:t>Dept. of Electronics and Communication Engineering</a:t>
            </a:r>
            <a:r>
              <a:rPr lang="en-US" sz="1700" dirty="0">
                <a:latin typeface="Times New Roman" panose="02020603050405020304" pitchFamily="18" charset="0"/>
                <a:cs typeface="Times New Roman" panose="02020603050405020304" pitchFamily="18" charset="0"/>
                <a:sym typeface="+mn-ea"/>
              </a:rPr>
              <a:t>.</a:t>
            </a:r>
            <a:endParaRPr lang="en-US" sz="1700" dirty="0">
              <a:latin typeface="Times New Roman" panose="02020603050405020304" pitchFamily="18" charset="0"/>
              <a:cs typeface="Times New Roman" panose="02020603050405020304" pitchFamily="18" charset="0"/>
            </a:endParaRPr>
          </a:p>
          <a:p>
            <a:endParaRPr sz="1700" dirty="0">
              <a:latin typeface="Times New Roman" panose="02020603050405020304" pitchFamily="18" charset="0"/>
              <a:cs typeface="Times New Roman" panose="02020603050405020304" pitchFamily="18" charset="0"/>
            </a:endParaRPr>
          </a:p>
          <a:p>
            <a:endParaRPr lang="en-GB" alt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224589"/>
            <a:ext cx="10018713" cy="6320589"/>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Thank you...</a:t>
            </a:r>
            <a:endParaRPr lang="en-IN"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6509</Words>
  <Application>WPS Slides</Application>
  <PresentationFormat>Widescreen</PresentationFormat>
  <Paragraphs>162</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Arial</vt:lpstr>
      <vt:lpstr>Times New Roman</vt:lpstr>
      <vt:lpstr>Calibri</vt:lpstr>
      <vt:lpstr>Corbel</vt:lpstr>
      <vt:lpstr>Microsoft YaHei</vt:lpstr>
      <vt:lpstr>Arial Unicode MS</vt:lpstr>
      <vt:lpstr>华文楷体</vt:lpstr>
      <vt:lpstr>Wingdings</vt:lpstr>
      <vt:lpstr>Parallax</vt:lpstr>
      <vt:lpstr>PowerPoint 演示文稿</vt:lpstr>
      <vt:lpstr>PowerPoint 演示文稿</vt:lpstr>
      <vt:lpstr>OBJECTIVES</vt:lpstr>
      <vt:lpstr>ABSTRACT</vt:lpstr>
      <vt:lpstr>PowerPoint 演示文稿</vt:lpstr>
      <vt:lpstr>PowerPoint 演示文稿</vt:lpstr>
      <vt:lpstr>PowerPoint 演示文稿</vt:lpstr>
      <vt:lpstr>BLOCK DIAGRAM</vt:lpstr>
      <vt:lpstr>PowerPoint 演示文稿</vt:lpstr>
      <vt:lpstr>PowerPoint 演示文稿</vt:lpstr>
      <vt:lpstr>PowerPoint 演示文稿</vt:lpstr>
      <vt:lpstr>PowerPoint 演示文稿</vt:lpstr>
      <vt:lpstr>PowerPoint 演示文稿</vt:lpstr>
      <vt:lpstr>EXPECTED RESULT</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Mallikarjuna Kummari</dc:creator>
  <cp:lastModifiedBy>Sai Karthik Reddy Kuppireddy</cp:lastModifiedBy>
  <cp:revision>4</cp:revision>
  <dcterms:created xsi:type="dcterms:W3CDTF">2025-02-16T11:14:00Z</dcterms:created>
  <dcterms:modified xsi:type="dcterms:W3CDTF">2025-04-10T18:08:10Z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9F1DC45EB49748789BC725A5748B9D68_12</vt:lpwstr>
  </property>
  <property fmtid="{D5CDD505-2E9C-101B-9397-08002B2CF9AE}" pid="3" name="KSOProductBuildVer">
    <vt:lpwstr>2057-12.2.0.20755</vt:lpwstr>
  </property>
</Properties>
</file>